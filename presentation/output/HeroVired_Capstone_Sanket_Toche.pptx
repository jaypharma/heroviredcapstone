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13bb00fd7c04dcb" /><Relationship Type="http://schemas.openxmlformats.org/officeDocument/2006/relationships/extended-properties" Target="/docProps/app.xml" Id="Re2354bb867c14002" /><Relationship Type="http://schemas.openxmlformats.org/officeDocument/2006/relationships/officeDocument" Target="/ppt/presentation.xml" Id="R27c0fec53d8b4f4b" /></Relationships>
</file>

<file path=ppt/presentation.xml><?xml version="1.0" encoding="utf-8"?>
<p:presentation xmlns:p="http://schemas.openxmlformats.org/presentationml/2006/main">
  <p:sldMasterIdLst>
    <p:sldMasterId xmlns:r="http://schemas.openxmlformats.org/officeDocument/2006/relationships" id="2147483648" r:id="Ra7de845ac60e4166"/>
  </p:sldMasterIdLst>
  <p:notesMasterIdLst>
    <p:notesMasterId xmlns:r="http://schemas.openxmlformats.org/officeDocument/2006/relationships" r:id="R91aabf4381b74e93"/>
  </p:notesMasterIdLst>
  <p:sldIdLst>
    <p:sldId xmlns:r="http://schemas.openxmlformats.org/officeDocument/2006/relationships" id="256" r:id="R25071b8fe3ac4f7f"/>
    <p:sldId xmlns:r="http://schemas.openxmlformats.org/officeDocument/2006/relationships" id="257" r:id="Rdf9fa8699eee4064"/>
    <p:sldId xmlns:r="http://schemas.openxmlformats.org/officeDocument/2006/relationships" id="258" r:id="R948ae208193d4dc3"/>
    <p:sldId xmlns:r="http://schemas.openxmlformats.org/officeDocument/2006/relationships" id="259" r:id="Re6e32ec87d1d47cf"/>
    <p:sldId xmlns:r="http://schemas.openxmlformats.org/officeDocument/2006/relationships" id="260" r:id="R8f965488388d4718"/>
    <p:sldId xmlns:r="http://schemas.openxmlformats.org/officeDocument/2006/relationships" id="261" r:id="R66395b2ea14641e2"/>
    <p:sldId xmlns:r="http://schemas.openxmlformats.org/officeDocument/2006/relationships" id="262" r:id="R12b8d46491684b6d"/>
    <p:sldId xmlns:r="http://schemas.openxmlformats.org/officeDocument/2006/relationships" id="263" r:id="Re88943db4df643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4141fa5fa544aa" /><Relationship Type="http://schemas.openxmlformats.org/officeDocument/2006/relationships/slideMaster" Target="/ppt/slideMasters/slideMaster1.xml" Id="Ra7de845ac60e4166" /><Relationship Type="http://schemas.openxmlformats.org/officeDocument/2006/relationships/notesMaster" Target="/ppt/notesMasters/notesMaster1.xml" Id="R91aabf4381b74e93" /><Relationship Type="http://schemas.openxmlformats.org/officeDocument/2006/relationships/presProps" Target="/ppt/presProps.xml" Id="Ra69fa011d99345ce" /><Relationship Type="http://schemas.openxmlformats.org/officeDocument/2006/relationships/tableStyles" Target="/ppt/tableStyles.xml" Id="Rbebd9adbcd4341e2" /><Relationship Type="http://schemas.openxmlformats.org/officeDocument/2006/relationships/slide" Target="/ppt/slides/slide1.xml" Id="R25071b8fe3ac4f7f" /><Relationship Type="http://schemas.openxmlformats.org/officeDocument/2006/relationships/slide" Target="/ppt/slides/slide2.xml" Id="Rdf9fa8699eee4064" /><Relationship Type="http://schemas.openxmlformats.org/officeDocument/2006/relationships/slide" Target="/ppt/slides/slide3.xml" Id="R948ae208193d4dc3" /><Relationship Type="http://schemas.openxmlformats.org/officeDocument/2006/relationships/slide" Target="/ppt/slides/slide4.xml" Id="Re6e32ec87d1d47cf" /><Relationship Type="http://schemas.openxmlformats.org/officeDocument/2006/relationships/slide" Target="/ppt/slides/slide5.xml" Id="R8f965488388d4718" /><Relationship Type="http://schemas.openxmlformats.org/officeDocument/2006/relationships/slide" Target="/ppt/slides/slide6.xml" Id="R66395b2ea14641e2" /><Relationship Type="http://schemas.openxmlformats.org/officeDocument/2006/relationships/slide" Target="/ppt/slides/slide7.xml" Id="R12b8d46491684b6d" /><Relationship Type="http://schemas.openxmlformats.org/officeDocument/2006/relationships/slide" Target="/ppt/slides/slide8.xml" Id="Re88943db4df643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f2809e2a8e49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6fc7b64e374f66" /><Relationship Type="http://schemas.openxmlformats.org/officeDocument/2006/relationships/notesMaster" Target="/ppt/notesMasters/notesMaster1.xml" Id="R3b7ef468c5b34e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f0bc39a3d34dd5" /><Relationship Type="http://schemas.openxmlformats.org/officeDocument/2006/relationships/notesMaster" Target="/ppt/notesMasters/notesMaster1.xml" Id="R20ecf929db7446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36b4d1f3c54219" /><Relationship Type="http://schemas.openxmlformats.org/officeDocument/2006/relationships/notesMaster" Target="/ppt/notesMasters/notesMaster1.xml" Id="Reff3760c823c43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4e32fecbb54fe8" /><Relationship Type="http://schemas.openxmlformats.org/officeDocument/2006/relationships/notesMaster" Target="/ppt/notesMasters/notesMaster1.xml" Id="R97f510fdf32c46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acff95e4b74820" /><Relationship Type="http://schemas.openxmlformats.org/officeDocument/2006/relationships/notesMaster" Target="/ppt/notesMasters/notesMaster1.xml" Id="R08c606e309d94d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0c00d117d8421c" /><Relationship Type="http://schemas.openxmlformats.org/officeDocument/2006/relationships/notesMaster" Target="/ppt/notesMasters/notesMaster1.xml" Id="R64ce4796d47f43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d2b1e83bfb459d" /><Relationship Type="http://schemas.openxmlformats.org/officeDocument/2006/relationships/notesMaster" Target="/ppt/notesMasters/notesMaster1.xml" Id="R9939314c243c45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1c4aac30fa43f3" /><Relationship Type="http://schemas.openxmlformats.org/officeDocument/2006/relationships/notesMaster" Target="/ppt/notesMasters/notesMaster1.xml" Id="Rfe9162cc149247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Sanket Toche. Recruiters need a consistent way to compare multiple resumes with a job description. This project produces fit categories, candidate rankings and visible skill gaps. I will show the dataset, baseline and advanced architecture, measured evaluation, and a local demo. The system supports recruiter review. Human judgment remains necessary for every consequential decision.</a:t>
            </a:r>
          </a:p>
          <a:p xmlns:a="http://schemas.openxmlformats.org/drawingml/2006/main">
            <a:r>
              <a:t/>
            </a:r>
          </a:p>
          <a:p xmlns:a="http://schemas.openxmlformats.org/drawingml/2006/main">
            <a:r>
              <a:t>Source: reports/metrics.json, data_audit.json, run_manifest.json and experiments/experiments.json. Public dataset: https://huggingface.co/datasets/facehuggerapoorv/resume-jd-match. Encoder: https://huggingface.co/sentence-transformers/all-MiniLM-L6-v2.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source contains 8,000 resume–JD pairs: 6,241 source training rows and 1,759 test rows. Strict parsing separates combined prompt sections. We quarantine six contradictory training pair groups and deduplicate the remainder, giving 6228 clean source training pairs. Development uses 5025 training pairs and 1203 validation pairs with disjoint JDs. After selecting on validation macro F1, we refit on clean source training and evaluate once on the original test split. Test JDs are unseen. Most test resumes recur in training, which limits unseen-person claims. The source card is empty and annotation provenance remains uncertain.</a:t>
            </a:r>
          </a:p>
          <a:p xmlns:a="http://schemas.openxmlformats.org/drawingml/2006/main">
            <a:r>
              <a:t/>
            </a:r>
          </a:p>
          <a:p xmlns:a="http://schemas.openxmlformats.org/drawingml/2006/main">
            <a:r>
              <a:t>Source: reports/metrics.json, data_audit.json, run_manifest.json and experiments/experiments.json. Public dataset: https://huggingface.co/datasets/facehuggerapoorv/resume-jd-match. Encoder: https://huggingface.co/sentence-transformers/all-MiniLM-L6-v2.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Low-fit is the largest class. Accuracy can reward majority prediction, so macro F1 is the primary selection metric. Training data has six conflicting pair groups and seven duplicate rows beyond first occurrences. We remove contradictory groups rather than arbitrarily choose labels. No test labels enter this operation. Explicit demographic/contact fields and selected boilerplate clauses are removed before text features. Long documents are divided into up to eight evenly spaced 150-word chunks. This reduces, but does not eliminate, truncation. The notebooks include length distributions and data-quality checks.</a:t>
            </a:r>
          </a:p>
          <a:p xmlns:a="http://schemas.openxmlformats.org/drawingml/2006/main">
            <a:r>
              <a:t/>
            </a:r>
          </a:p>
          <a:p xmlns:a="http://schemas.openxmlformats.org/drawingml/2006/main">
            <a:r>
              <a:t>Source: reports/metrics.json, data_audit.json, run_manifest.json and experiments/experiments.json. Public dataset: https://huggingface.co/datasets/facehuggerapoorv/resume-jd-match. Encoder: https://huggingface.co/sentence-transformers/all-MiniLM-L6-v2.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uses TF-IDF lexical cosine, keyword overlap, token overlap and relative lengths. Eight numerical features feed a 250-tree Random Forest. The advanced model uses pretrained all-MiniLM-L6-v2, a six-layer transformer that returns 384-dimensional embeddings. We keep encoder weights frozen. Up to eight chunk vectors are pooled and normalized per document. Pair features concatenate the resume vector, JD vector, absolute difference and element-wise product, plus cosine and eight lexical features. This gives 1,545 features. A supervised classifier is trained on our fit labels. The selected configuration is Sentence-BERT + logistic C1. We did not fine-tune the transformer. Keyword gaps remain transparent and embedding paraphrase suggestions require human confirmation.</a:t>
            </a:r>
          </a:p>
          <a:p xmlns:a="http://schemas.openxmlformats.org/drawingml/2006/main">
            <a:r>
              <a:t/>
            </a:r>
          </a:p>
          <a:p xmlns:a="http://schemas.openxmlformats.org/drawingml/2006/main">
            <a:r>
              <a:t>Source: reports/metrics.json, data_audit.json, run_manifest.json and experiments/experiments.json. Public dataset: https://huggingface.co/datasets/facehuggerapoorv/resume-jd-match. Encoder: https://huggingface.co/sentence-transformers/all-MiniLM-L6-v2.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compared configurations use the same development training rows and JD-grouped validation set. We record parameters, macro F1, accuracy and wall-clock classifier training time. Logistic C values vary regularization. ExtraTrees varies leaf size; Random Forest uses a different feature fraction and leaf size. Encoder batch size is 32 and maximum sequence length is 256 wordpieces. Encoder weights stay frozen, so learning rate, optimizer and epochs do not apply to this training stage. The learning curve varies labeled classifier training size while holding validation fixed. We select Sentence-BERT + logistic C1 by validation macro F1, without using test results.</a:t>
            </a:r>
          </a:p>
          <a:p xmlns:a="http://schemas.openxmlformats.org/drawingml/2006/main">
            <a:r>
              <a:t/>
            </a:r>
          </a:p>
          <a:p xmlns:a="http://schemas.openxmlformats.org/drawingml/2006/main">
            <a:r>
              <a:t>Source: reports/metrics.json, data_audit.json, run_manifest.json and experiments/experiments.json. Public dataset: https://huggingface.co/datasets/facehuggerapoorv/resume-jd-match. Encoder: https://huggingface.co/sentence-transformers/all-MiniLM-L6-v2.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1759 untouched test pairs, advanced accuracy is 47.9%, macro F1 is 0.449, NDCG at 3 is 0.691 and Precision at 3 is 0.306. Macro F1 changes by 0.086 versus the newly refitted TF-IDF baseline. NDCG uses graded relevance 0, 1 and 2. Precision at 3 treats strong fit as relevant, with tie-aware calculation. Metrics average over eligible JD groups. The confusion matrix reports rows as actual labels and columns as predicted labels. False negatives remain consequential. These point estimates are not a significance claim. Local CPU latency includes fresh document embeddings but excludes startup and networking.</a:t>
            </a:r>
          </a:p>
          <a:p xmlns:a="http://schemas.openxmlformats.org/drawingml/2006/main">
            <a:r>
              <a:t/>
            </a:r>
          </a:p>
          <a:p xmlns:a="http://schemas.openxmlformats.org/drawingml/2006/main">
            <a:r>
              <a:t>Source: reports/metrics.json, data_audit.json, run_manifest.json and experiments/experiments.json. Public dataset: https://huggingface.co/datasets/facehuggerapoorv/resume-jd-match. Encoder: https://huggingface.co/sentence-transformers/all-MiniLM-L6-v2.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launch_dashboard.cmd from A:\HEROVIRED. The saved model and local encoder load without retraining or network access. The default JD and three examples are ready. Show the rankings, matched and missing keywords, and downloadable CSV. Then open Model evidence to show the metrics. Finally open Known failure case and run the keyword-only example. It mentions every tool but denies real experience. The explanation still detects skill mentions, demonstrating why human verification is necessary. Actual recorded demo outputs are shown here, not manually assigned fit labels. FastAPI offers the same inference through POST /match and interactive /docs.</a:t>
            </a:r>
          </a:p>
          <a:p xmlns:a="http://schemas.openxmlformats.org/drawingml/2006/main">
            <a:r>
              <a:t/>
            </a:r>
          </a:p>
          <a:p xmlns:a="http://schemas.openxmlformats.org/drawingml/2006/main">
            <a:r>
              <a:t>Source: reports/metrics.json, data_audit.json, run_manifest.json and experiments/experiments.json. Public dataset: https://huggingface.co/datasets/facehuggerapoorv/resume-jd-match. Encoder: https://huggingface.co/sentence-transformers/all-MiniLM-L6-v2.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supports consistent comparison and visible skill-gap discussion, but it has not demonstrated time savings in a recruiter study. We remove explicit personal fields and test invariance across controlled variants. 3 of 3 resume fixtures pass these controlled checks. This is not a demographic fairness audit. Sensitive free-form text, proxy bias and uncertain source labels remain. Scores blend expected fit, embedding similarity and skill overlap. Classifier categories remain separate diagnostics. Scores are not calibrated hiring probabilities. Future work includes unseen-candidate and role-specific evaluations, recruiter-reviewed explanations, calibration and a task-tuned reranker. PDF parsing, ATS integration and autonomous hiring are beyond the current validated scope.</a:t>
            </a:r>
          </a:p>
          <a:p xmlns:a="http://schemas.openxmlformats.org/drawingml/2006/main">
            <a:r>
              <a:t/>
            </a:r>
          </a:p>
          <a:p xmlns:a="http://schemas.openxmlformats.org/drawingml/2006/main">
            <a:r>
              <a:t>Source: reports/metrics.json, data_audit.json, run_manifest.json and experiments/experiments.json. Public dataset: https://huggingface.co/datasets/facehuggerapoorv/resume-jd-match. Encoder: https://huggingface.co/sentence-transformers/all-MiniLM-L6-v2.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a235ac5cce48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76d33cdca64d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137fa8f79c4e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9e5d8d20d440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94c02263dd40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41869c236e43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4BC5C0-A314-4F53-8E5B-AC1FC93D9E4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64CEE8-3C0A-4AEF-80C6-BA90026CF3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B11484-DAF3-4C72-A459-2C480F72AB4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16BAF9-D4D1-4AEB-8D3B-E2A03B9113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07B2585-58DF-48F4-A91F-34EC350D5E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090BBC4-FF16-4026-B52F-89D7B216EA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7DDBF4-B4D0-4A07-850F-A971EF40AE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C454EB-C69C-432B-A1AD-D33FA38321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8E96F8-366C-4A56-81D5-475BDFA542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DDB501-C9B5-4A56-BF10-3E927BC876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c185863b0d4c5e" /><Relationship Type="http://schemas.openxmlformats.org/officeDocument/2006/relationships/slideLayout" Target="/ppt/slideLayouts/slideLayout1.xml" Id="Rbcf96baf27204e32" /><Relationship Type="http://schemas.openxmlformats.org/officeDocument/2006/relationships/slideLayout" Target="/ppt/slideLayouts/slideLayout2.xml" Id="Rd4c4247956584af0" /><Relationship Type="http://schemas.openxmlformats.org/officeDocument/2006/relationships/slideLayout" Target="/ppt/slideLayouts/slideLayout3.xml" Id="R7d5d351ad13c4d88" /><Relationship Type="http://schemas.openxmlformats.org/officeDocument/2006/relationships/slideLayout" Target="/ppt/slideLayouts/slideLayout4.xml" Id="Rd138165411dd464a" /><Relationship Type="http://schemas.openxmlformats.org/officeDocument/2006/relationships/slideLayout" Target="/ppt/slideLayouts/slideLayout5.xml" Id="Ra649521fca1f40e7" /><Relationship Type="http://schemas.openxmlformats.org/officeDocument/2006/relationships/slideLayout" Target="/ppt/slideLayouts/slideLayout6.xml" Id="R610e6b7b845744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f96baf27204e32"/>
    <p:sldLayoutId xmlns:r="http://schemas.openxmlformats.org/officeDocument/2006/relationships" id="2147483650" r:id="Rd4c4247956584af0"/>
    <p:sldLayoutId xmlns:r="http://schemas.openxmlformats.org/officeDocument/2006/relationships" id="2147483651" r:id="R7d5d351ad13c4d88"/>
    <p:sldLayoutId xmlns:r="http://schemas.openxmlformats.org/officeDocument/2006/relationships" id="2147483652" r:id="Rd138165411dd464a"/>
    <p:sldLayoutId xmlns:r="http://schemas.openxmlformats.org/officeDocument/2006/relationships" id="2147483653" r:id="Ra649521fca1f40e7"/>
    <p:sldLayoutId xmlns:r="http://schemas.openxmlformats.org/officeDocument/2006/relationships" id="2147483654" r:id="R610e6b7b845744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37cfd72ec9e47b2" /><Relationship Type="http://schemas.openxmlformats.org/officeDocument/2006/relationships/notesSlide" Target="/ppt/notesSlides/notesSlide1.xml" Id="R9fbe7dec3d294b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a51d4203e6d4187" /><Relationship Type="http://schemas.openxmlformats.org/officeDocument/2006/relationships/notesSlide" Target="/ppt/notesSlides/notesSlide2.xml" Id="R3c307dfde0e141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a2d46875e424b38" /><Relationship Type="http://schemas.openxmlformats.org/officeDocument/2006/relationships/chart" Target="/ppt/slides/charts/chart1.xml" Id="R9a9c8ae0a87e4b01" /><Relationship Type="http://schemas.openxmlformats.org/officeDocument/2006/relationships/notesSlide" Target="/ppt/notesSlides/notesSlide3.xml" Id="R54bef94c839649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90343aa1654177" /><Relationship Type="http://schemas.openxmlformats.org/officeDocument/2006/relationships/notesSlide" Target="/ppt/notesSlides/notesSlide4.xml" Id="R069b5667c20247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39aa21a38ba4bce" /><Relationship Type="http://schemas.openxmlformats.org/officeDocument/2006/relationships/chart" Target="/ppt/slides/charts/chart2.xml" Id="R8fb35d29956640b5" /><Relationship Type="http://schemas.openxmlformats.org/officeDocument/2006/relationships/notesSlide" Target="/ppt/notesSlides/notesSlide5.xml" Id="Rb969755e902747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5f45572b3c4c47" /><Relationship Type="http://schemas.openxmlformats.org/officeDocument/2006/relationships/notesSlide" Target="/ppt/notesSlides/notesSlide6.xml" Id="R11fc4dd5e9f043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664d75b048b40a6" /><Relationship Type="http://schemas.openxmlformats.org/officeDocument/2006/relationships/notesSlide" Target="/ppt/notesSlides/notesSlide7.xml" Id="R626ae057649c48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709afefbb57441d" /><Relationship Type="http://schemas.openxmlformats.org/officeDocument/2006/relationships/notesSlide" Target="/ppt/notesSlides/notesSlide8.xml" Id="R077ab9adaeb74e2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Clean training pairs</c:v>
          </c:tx>
          <c:spPr>
            <a:solidFill xmlns:a="http://schemas.openxmlformats.org/drawingml/2006/main">
              <a:srgbClr val="127F76"/>
            </a:solidFill>
          </c:spPr>
          <c:invertIfNegative val="0"/>
          <c:cat>
            <c:strRef>
              <c:f>'Chart Data'!$A$2:$A$4</c:f>
              <c:strCache>
                <c:ptCount val="3"/>
                <c:pt idx="0">
                  <c:v>Low fit</c:v>
                </c:pt>
                <c:pt idx="1">
                  <c:v>Potential fit</c:v>
                </c:pt>
                <c:pt idx="2">
                  <c:v>Strong fit</c:v>
                </c:pt>
              </c:strCache>
            </c:strRef>
          </c:cat>
          <c:val>
            <c:numRef>
              <c:f>'Chart Data'!$B$2:$B$4</c:f>
              <c:numCache>
                <c:formatCode>#,##0</c:formatCode>
                <c:ptCount val="3"/>
                <c:pt idx="0">
                  <c:v>3136</c:v>
                </c:pt>
                <c:pt idx="1">
                  <c:v>1554</c:v>
                </c:pt>
                <c:pt idx="2">
                  <c:v>1538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6DE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Pairs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Training</c:v>
          </c:tx>
          <c:spPr>
            <a:ln xmlns:a="http://schemas.openxmlformats.org/drawingml/2006/main" w="28575">
              <a:solidFill>
                <a:srgbClr val="14243A"/>
              </a:solidFill>
            </a:ln>
          </c:spPr>
          <c:marker>
            <c:symbol val="none"/>
          </c:marker>
          <c:cat>
            <c:numRef>
              <c:f>'Chart Data'!$A$2:$A$4</c:f>
              <c:numCache>
                <c:formatCode>General</c:formatCode>
                <c:ptCount val="3"/>
                <c:pt idx="0">
                  <c:v>1255</c:v>
                </c:pt>
                <c:pt idx="1">
                  <c:v>2511</c:v>
                </c:pt>
                <c:pt idx="2">
                  <c:v>5025</c:v>
                </c:pt>
              </c:numCache>
            </c:numRef>
          </c:cat>
          <c:val>
            <c:numRef>
              <c:f>'Chart Data'!$B$2:$B$4</c:f>
              <c:numCache>
                <c:formatCode>0.0</c:formatCode>
                <c:ptCount val="3"/>
                <c:pt idx="0">
                  <c:v>1</c:v>
                </c:pt>
                <c:pt idx="1">
                  <c:v>1</c:v>
                </c:pt>
                <c:pt idx="2">
                  <c:v>0.9582</c:v>
                </c:pt>
              </c:numCache>
            </c:numRef>
          </c:val>
        </c:ser>
        <c:ser>
          <c:idx val="1"/>
          <c:order val="1"/>
          <c:tx>
            <c:v>Validation</c:v>
          </c:tx>
          <c:spPr>
            <a:ln xmlns:a="http://schemas.openxmlformats.org/drawingml/2006/main" w="28575">
              <a:solidFill>
                <a:srgbClr val="127F76"/>
              </a:solidFill>
            </a:ln>
          </c:spPr>
          <c:marker>
            <c:symbol val="none"/>
          </c:marker>
          <c:cat>
            <c:numRef>
              <c:f>'Chart Data'!$C$2:$C$4</c:f>
              <c:numCache>
                <c:formatCode>General</c:formatCode>
                <c:ptCount val="3"/>
                <c:pt idx="0">
                  <c:v>1255</c:v>
                </c:pt>
                <c:pt idx="1">
                  <c:v>2511</c:v>
                </c:pt>
                <c:pt idx="2">
                  <c:v>5025</c:v>
                </c:pt>
              </c:numCache>
            </c:numRef>
          </c:cat>
          <c:val>
            <c:numRef>
              <c:f>'Chart Data'!$D$2:$D$4</c:f>
              <c:numCache>
                <c:formatCode>0.0</c:formatCode>
                <c:ptCount val="3"/>
                <c:pt idx="0">
                  <c:v>0.4847</c:v>
                </c:pt>
                <c:pt idx="1">
                  <c:v>0.4487</c:v>
                </c:pt>
                <c:pt idx="2">
                  <c:v>0.4707</c:v>
                </c:pt>
              </c:numCache>
            </c:numRef>
          </c:val>
        </c:ser>
        <c:dLbls>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Training pairs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4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9AB37D-FCA6-4668-8C62-9E53A850A308}"/>
              </a:ext>
            </a:extLst>
          </p:cNvPr>
          <p:cNvSpPr>
            <a:spLocks xmlns:a="http://schemas.openxmlformats.org/drawingml/2006/main" noGrp="1"/>
          </p:cNvSpPr>
          <p:nvPr/>
        </p:nvSpPr>
        <p:spPr>
          <a:xfrm xmlns:a="http://schemas.openxmlformats.org/drawingml/2006/main">
            <a:off x="685800" y="1466850"/>
            <a:ext cx="108204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FFFFF"/>
                </a:solidFill>
                <a:latin typeface="Arial"/>
                <a:ea typeface="Arial"/>
                <a:cs typeface="Arial"/>
              </a:defRPr>
            </a:defPPr>
            <a:lvl1pPr>
              <a:defRPr sz="4650" b="1">
                <a:solidFill>
                  <a:srgbClr val="FFFFFF"/>
                </a:solidFill>
                <a:latin typeface="Arial"/>
                <a:ea typeface="Arial"/>
                <a:cs typeface="Arial"/>
              </a:defRPr>
            </a:lvl1pPr>
            <a:lvl2pPr>
              <a:defRPr sz="4650" b="1">
                <a:solidFill>
                  <a:srgbClr val="FFFFFF"/>
                </a:solidFill>
                <a:latin typeface="Arial"/>
                <a:ea typeface="Arial"/>
                <a:cs typeface="Arial"/>
              </a:defRPr>
            </a:lvl2pPr>
            <a:lvl3pPr>
              <a:defRPr sz="4650" b="1">
                <a:solidFill>
                  <a:srgbClr val="FFFFFF"/>
                </a:solidFill>
                <a:latin typeface="Arial"/>
                <a:ea typeface="Arial"/>
                <a:cs typeface="Arial"/>
              </a:defRPr>
            </a:lvl3pPr>
            <a:lvl4pPr>
              <a:defRPr sz="4650" b="1">
                <a:solidFill>
                  <a:srgbClr val="FFFFFF"/>
                </a:solidFill>
                <a:latin typeface="Arial"/>
                <a:ea typeface="Arial"/>
                <a:cs typeface="Arial"/>
              </a:defRPr>
            </a:lvl4pPr>
            <a:lvl5pPr>
              <a:defRPr sz="4650" b="1">
                <a:solidFill>
                  <a:srgbClr val="FFFFFF"/>
                </a:solidFill>
                <a:latin typeface="Arial"/>
                <a:ea typeface="Arial"/>
                <a:cs typeface="Arial"/>
              </a:defRPr>
            </a:lvl5pPr>
            <a:lvl6pPr>
              <a:defRPr sz="4650" b="1">
                <a:solidFill>
                  <a:srgbClr val="FFFFFF"/>
                </a:solidFill>
                <a:latin typeface="Arial"/>
                <a:ea typeface="Arial"/>
                <a:cs typeface="Arial"/>
              </a:defRPr>
            </a:lvl6pPr>
            <a:lvl7pPr>
              <a:defRPr sz="4650" b="1">
                <a:solidFill>
                  <a:srgbClr val="FFFFFF"/>
                </a:solidFill>
                <a:latin typeface="Arial"/>
                <a:ea typeface="Arial"/>
                <a:cs typeface="Arial"/>
              </a:defRPr>
            </a:lvl7pPr>
            <a:lvl8pPr>
              <a:defRPr sz="4650" b="1">
                <a:solidFill>
                  <a:srgbClr val="FFFFFF"/>
                </a:solidFill>
                <a:latin typeface="Arial"/>
                <a:ea typeface="Arial"/>
                <a:cs typeface="Arial"/>
              </a:defRPr>
            </a:lvl8pPr>
            <a:lvl9pPr>
              <a:defRPr sz="4650" b="1">
                <a:solidFill>
                  <a:srgbClr val="FFFFFF"/>
                </a:solidFill>
                <a:latin typeface="Arial"/>
                <a:ea typeface="Arial"/>
                <a:cs typeface="Arial"/>
              </a:defRPr>
            </a:lvl9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Resume Screening</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&amp; Job Description Matching</a:t>
            </a:r>
          </a:p>
        </p:txBody>
      </p:sp>
      <p:sp>
        <p:nvSpPr>
          <p:cNvPr id="2" name="">
            <a:extLst xmlns:a="http://schemas.openxmlformats.org/drawingml/2006/main">
              <a:ext uri="{FF2B5EF4-FFF2-40B4-BE49-F238E27FC236}">
                <a16:creationId xmlns:a16="http://schemas.microsoft.com/office/drawing/2014/main" id="{E56D1624-FD4C-46A4-BE66-D223A119A80A}"/>
              </a:ext>
            </a:extLst>
          </p:cNvPr>
          <p:cNvSpPr>
            <a:spLocks xmlns:a="http://schemas.openxmlformats.org/drawingml/2006/main" noGrp="1"/>
          </p:cNvSpPr>
          <p:nvPr/>
        </p:nvSpPr>
        <p:spPr>
          <a:xfrm xmlns:a="http://schemas.openxmlformats.org/drawingml/2006/main">
            <a:off x="723900" y="37147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9D8E5"/>
                </a:solidFill>
                <a:latin typeface="Arial"/>
                <a:ea typeface="Arial"/>
                <a:cs typeface="Arial"/>
              </a:defRPr>
            </a:defPPr>
            <a:lvl1pPr>
              <a:defRPr sz="2100" b="0">
                <a:solidFill>
                  <a:srgbClr val="C9D8E5"/>
                </a:solidFill>
                <a:latin typeface="Arial"/>
                <a:ea typeface="Arial"/>
                <a:cs typeface="Arial"/>
              </a:defRPr>
            </a:lvl1pPr>
            <a:lvl2pPr>
              <a:defRPr sz="2100" b="0">
                <a:solidFill>
                  <a:srgbClr val="C9D8E5"/>
                </a:solidFill>
                <a:latin typeface="Arial"/>
                <a:ea typeface="Arial"/>
                <a:cs typeface="Arial"/>
              </a:defRPr>
            </a:lvl2pPr>
            <a:lvl3pPr>
              <a:defRPr sz="2100" b="0">
                <a:solidFill>
                  <a:srgbClr val="C9D8E5"/>
                </a:solidFill>
                <a:latin typeface="Arial"/>
                <a:ea typeface="Arial"/>
                <a:cs typeface="Arial"/>
              </a:defRPr>
            </a:lvl3pPr>
            <a:lvl4pPr>
              <a:defRPr sz="2100" b="0">
                <a:solidFill>
                  <a:srgbClr val="C9D8E5"/>
                </a:solidFill>
                <a:latin typeface="Arial"/>
                <a:ea typeface="Arial"/>
                <a:cs typeface="Arial"/>
              </a:defRPr>
            </a:lvl4pPr>
            <a:lvl5pPr>
              <a:defRPr sz="2100" b="0">
                <a:solidFill>
                  <a:srgbClr val="C9D8E5"/>
                </a:solidFill>
                <a:latin typeface="Arial"/>
                <a:ea typeface="Arial"/>
                <a:cs typeface="Arial"/>
              </a:defRPr>
            </a:lvl5pPr>
            <a:lvl6pPr>
              <a:defRPr sz="2100" b="0">
                <a:solidFill>
                  <a:srgbClr val="C9D8E5"/>
                </a:solidFill>
                <a:latin typeface="Arial"/>
                <a:ea typeface="Arial"/>
                <a:cs typeface="Arial"/>
              </a:defRPr>
            </a:lvl6pPr>
            <a:lvl7pPr>
              <a:defRPr sz="2100" b="0">
                <a:solidFill>
                  <a:srgbClr val="C9D8E5"/>
                </a:solidFill>
                <a:latin typeface="Arial"/>
                <a:ea typeface="Arial"/>
                <a:cs typeface="Arial"/>
              </a:defRPr>
            </a:lvl7pPr>
            <a:lvl8pPr>
              <a:defRPr sz="2100" b="0">
                <a:solidFill>
                  <a:srgbClr val="C9D8E5"/>
                </a:solidFill>
                <a:latin typeface="Arial"/>
                <a:ea typeface="Arial"/>
                <a:cs typeface="Arial"/>
              </a:defRPr>
            </a:lvl8pPr>
            <a:lvl9pPr>
              <a:defRPr sz="2100" b="0">
                <a:solidFill>
                  <a:srgbClr val="C9D8E5"/>
                </a:solidFill>
                <a:latin typeface="Arial"/>
                <a:ea typeface="Arial"/>
                <a:cs typeface="Arial"/>
              </a:defRPr>
            </a:lvl9pPr>
          </a:lstStyle>
          <a:p xmlns:a="http://schemas.openxmlformats.org/drawingml/2006/main">
            <a:pPr>
              <a:defRPr sz="2100" b="0">
                <a:solidFill>
                  <a:srgbClr val="C9D8E5"/>
                </a:solidFill>
                <a:latin typeface="Arial"/>
                <a:ea typeface="Arial"/>
                <a:cs typeface="Arial"/>
              </a:defRPr>
            </a:pPr>
            <a:r>
              <a:rPr sz="2100" b="0">
                <a:solidFill>
                  <a:srgbClr val="C9D8E5"/>
                </a:solidFill>
                <a:latin typeface="Arial"/>
                <a:ea typeface="Arial"/>
                <a:cs typeface="Arial"/>
              </a:rPr>
              <a:t>Candidate ranking, fit prediction and skill-gap explanations</a:t>
            </a:r>
          </a:p>
        </p:txBody>
      </p:sp>
      <p:sp>
        <p:nvSpPr>
          <p:cNvPr id="3" name="">
            <a:extLst xmlns:a="http://schemas.openxmlformats.org/drawingml/2006/main">
              <a:ext uri="{FF2B5EF4-FFF2-40B4-BE49-F238E27FC236}">
                <a16:creationId xmlns:a16="http://schemas.microsoft.com/office/drawing/2014/main" id="{476C8EB5-FBA8-4CEE-ADC0-6C282F8C6439}"/>
              </a:ext>
            </a:extLst>
          </p:cNvPr>
          <p:cNvSpPr>
            <a:spLocks xmlns:a="http://schemas.openxmlformats.org/drawingml/2006/main" noGrp="1"/>
          </p:cNvSpPr>
          <p:nvPr/>
        </p:nvSpPr>
        <p:spPr>
          <a:xfrm xmlns:a="http://schemas.openxmlformats.org/drawingml/2006/main">
            <a:off x="723900" y="50958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Sanket Toche</a:t>
            </a:r>
          </a:p>
        </p:txBody>
      </p:sp>
      <p:sp>
        <p:nvSpPr>
          <p:cNvPr id="4" name="">
            <a:extLst xmlns:a="http://schemas.openxmlformats.org/drawingml/2006/main">
              <a:ext uri="{FF2B5EF4-FFF2-40B4-BE49-F238E27FC236}">
                <a16:creationId xmlns:a16="http://schemas.microsoft.com/office/drawing/2014/main" id="{F7E5676B-6A0F-4918-B5EA-31B9E9989AF2}"/>
              </a:ext>
            </a:extLst>
          </p:cNvPr>
          <p:cNvSpPr>
            <a:spLocks xmlns:a="http://schemas.openxmlformats.org/drawingml/2006/main" noGrp="1"/>
          </p:cNvSpPr>
          <p:nvPr/>
        </p:nvSpPr>
        <p:spPr>
          <a:xfrm xmlns:a="http://schemas.openxmlformats.org/drawingml/2006/main">
            <a:off x="723900" y="57340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9D8E5"/>
                </a:solidFill>
                <a:latin typeface="Arial"/>
                <a:ea typeface="Arial"/>
                <a:cs typeface="Arial"/>
              </a:defRPr>
            </a:defPPr>
            <a:lvl1pPr>
              <a:defRPr sz="1500" b="0">
                <a:solidFill>
                  <a:srgbClr val="C9D8E5"/>
                </a:solidFill>
                <a:latin typeface="Arial"/>
                <a:ea typeface="Arial"/>
                <a:cs typeface="Arial"/>
              </a:defRPr>
            </a:lvl1pPr>
            <a:lvl2pPr>
              <a:defRPr sz="1500" b="0">
                <a:solidFill>
                  <a:srgbClr val="C9D8E5"/>
                </a:solidFill>
                <a:latin typeface="Arial"/>
                <a:ea typeface="Arial"/>
                <a:cs typeface="Arial"/>
              </a:defRPr>
            </a:lvl2pPr>
            <a:lvl3pPr>
              <a:defRPr sz="1500" b="0">
                <a:solidFill>
                  <a:srgbClr val="C9D8E5"/>
                </a:solidFill>
                <a:latin typeface="Arial"/>
                <a:ea typeface="Arial"/>
                <a:cs typeface="Arial"/>
              </a:defRPr>
            </a:lvl3pPr>
            <a:lvl4pPr>
              <a:defRPr sz="1500" b="0">
                <a:solidFill>
                  <a:srgbClr val="C9D8E5"/>
                </a:solidFill>
                <a:latin typeface="Arial"/>
                <a:ea typeface="Arial"/>
                <a:cs typeface="Arial"/>
              </a:defRPr>
            </a:lvl4pPr>
            <a:lvl5pPr>
              <a:defRPr sz="1500" b="0">
                <a:solidFill>
                  <a:srgbClr val="C9D8E5"/>
                </a:solidFill>
                <a:latin typeface="Arial"/>
                <a:ea typeface="Arial"/>
                <a:cs typeface="Arial"/>
              </a:defRPr>
            </a:lvl5pPr>
            <a:lvl6pPr>
              <a:defRPr sz="1500" b="0">
                <a:solidFill>
                  <a:srgbClr val="C9D8E5"/>
                </a:solidFill>
                <a:latin typeface="Arial"/>
                <a:ea typeface="Arial"/>
                <a:cs typeface="Arial"/>
              </a:defRPr>
            </a:lvl6pPr>
            <a:lvl7pPr>
              <a:defRPr sz="1500" b="0">
                <a:solidFill>
                  <a:srgbClr val="C9D8E5"/>
                </a:solidFill>
                <a:latin typeface="Arial"/>
                <a:ea typeface="Arial"/>
                <a:cs typeface="Arial"/>
              </a:defRPr>
            </a:lvl7pPr>
            <a:lvl8pPr>
              <a:defRPr sz="1500" b="0">
                <a:solidFill>
                  <a:srgbClr val="C9D8E5"/>
                </a:solidFill>
                <a:latin typeface="Arial"/>
                <a:ea typeface="Arial"/>
                <a:cs typeface="Arial"/>
              </a:defRPr>
            </a:lvl8pPr>
            <a:lvl9pPr>
              <a:defRPr sz="1500" b="0">
                <a:solidFill>
                  <a:srgbClr val="C9D8E5"/>
                </a:solidFill>
                <a:latin typeface="Arial"/>
                <a:ea typeface="Arial"/>
                <a:cs typeface="Arial"/>
              </a:defRPr>
            </a:lvl9pPr>
          </a:lstStyle>
          <a:p xmlns:a="http://schemas.openxmlformats.org/drawingml/2006/main">
            <a:pPr>
              <a:defRPr sz="1500" b="0">
                <a:solidFill>
                  <a:srgbClr val="C9D8E5"/>
                </a:solidFill>
                <a:latin typeface="Arial"/>
                <a:ea typeface="Arial"/>
                <a:cs typeface="Arial"/>
              </a:defRPr>
            </a:pPr>
            <a:r>
              <a:rPr sz="1500" b="0">
                <a:solidFill>
                  <a:srgbClr val="C9D8E5"/>
                </a:solidFill>
                <a:latin typeface="Arial"/>
                <a:ea typeface="Arial"/>
                <a:cs typeface="Arial"/>
              </a:rPr>
              <a:t>HeroVired AI/ML Specialisation Capstone · Project 5 · HR Tech / NLP</a:t>
            </a:r>
          </a:p>
        </p:txBody>
      </p:sp>
    </p:spTree>
    <p:extLst>
      <p:ext uri="{BB962C8B-B14F-4D97-AF65-F5344CB8AC3E}">
        <p14:creationId xmlns:p14="http://schemas.microsoft.com/office/powerpoint/2010/main" val="380940755"/>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A73210-AB5C-4178-9C5F-3E33DB229CB6}"/>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43A"/>
                </a:solidFill>
                <a:latin typeface="Arial"/>
                <a:ea typeface="Arial"/>
                <a:cs typeface="Arial"/>
              </a:defRPr>
            </a:defPPr>
            <a:lvl1pPr>
              <a:defRPr sz="3000" b="1">
                <a:solidFill>
                  <a:srgbClr val="14243A"/>
                </a:solidFill>
                <a:latin typeface="Arial"/>
                <a:ea typeface="Arial"/>
                <a:cs typeface="Arial"/>
              </a:defRPr>
            </a:lvl1pPr>
            <a:lvl2pPr>
              <a:defRPr sz="3000" b="1">
                <a:solidFill>
                  <a:srgbClr val="14243A"/>
                </a:solidFill>
                <a:latin typeface="Arial"/>
                <a:ea typeface="Arial"/>
                <a:cs typeface="Arial"/>
              </a:defRPr>
            </a:lvl2pPr>
            <a:lvl3pPr>
              <a:defRPr sz="3000" b="1">
                <a:solidFill>
                  <a:srgbClr val="14243A"/>
                </a:solidFill>
                <a:latin typeface="Arial"/>
                <a:ea typeface="Arial"/>
                <a:cs typeface="Arial"/>
              </a:defRPr>
            </a:lvl3pPr>
            <a:lvl4pPr>
              <a:defRPr sz="3000" b="1">
                <a:solidFill>
                  <a:srgbClr val="14243A"/>
                </a:solidFill>
                <a:latin typeface="Arial"/>
                <a:ea typeface="Arial"/>
                <a:cs typeface="Arial"/>
              </a:defRPr>
            </a:lvl4pPr>
            <a:lvl5pPr>
              <a:defRPr sz="3000" b="1">
                <a:solidFill>
                  <a:srgbClr val="14243A"/>
                </a:solidFill>
                <a:latin typeface="Arial"/>
                <a:ea typeface="Arial"/>
                <a:cs typeface="Arial"/>
              </a:defRPr>
            </a:lvl5pPr>
            <a:lvl6pPr>
              <a:defRPr sz="3000" b="1">
                <a:solidFill>
                  <a:srgbClr val="14243A"/>
                </a:solidFill>
                <a:latin typeface="Arial"/>
                <a:ea typeface="Arial"/>
                <a:cs typeface="Arial"/>
              </a:defRPr>
            </a:lvl6pPr>
            <a:lvl7pPr>
              <a:defRPr sz="3000" b="1">
                <a:solidFill>
                  <a:srgbClr val="14243A"/>
                </a:solidFill>
                <a:latin typeface="Arial"/>
                <a:ea typeface="Arial"/>
                <a:cs typeface="Arial"/>
              </a:defRPr>
            </a:lvl7pPr>
            <a:lvl8pPr>
              <a:defRPr sz="3000" b="1">
                <a:solidFill>
                  <a:srgbClr val="14243A"/>
                </a:solidFill>
                <a:latin typeface="Arial"/>
                <a:ea typeface="Arial"/>
                <a:cs typeface="Arial"/>
              </a:defRPr>
            </a:lvl8pPr>
            <a:lvl9pPr>
              <a:defRPr sz="3000" b="1">
                <a:solidFill>
                  <a:srgbClr val="14243A"/>
                </a:solidFill>
                <a:latin typeface="Arial"/>
                <a:ea typeface="Arial"/>
                <a:cs typeface="Arial"/>
              </a:defRPr>
            </a:lvl9pPr>
          </a:lstStyle>
          <a:p xmlns:a="http://schemas.openxmlformats.org/drawingml/2006/main">
            <a:pPr>
              <a:defRPr sz="3000" b="1">
                <a:solidFill>
                  <a:srgbClr val="14243A"/>
                </a:solidFill>
                <a:latin typeface="Arial"/>
                <a:ea typeface="Arial"/>
                <a:cs typeface="Arial"/>
              </a:defRPr>
            </a:pPr>
            <a:r>
              <a:rPr sz="3000" b="1">
                <a:solidFill>
                  <a:srgbClr val="14243A"/>
                </a:solidFill>
                <a:latin typeface="Arial"/>
                <a:ea typeface="Arial"/>
                <a:cs typeface="Arial"/>
              </a:rPr>
              <a:t>Dataset and evaluation design</a:t>
            </a:r>
          </a:p>
        </p:txBody>
      </p:sp>
      <p:sp>
        <p:nvSpPr>
          <p:cNvPr id="2" name="">
            <a:extLst xmlns:a="http://schemas.openxmlformats.org/drawingml/2006/main">
              <a:ext uri="{FF2B5EF4-FFF2-40B4-BE49-F238E27FC236}">
                <a16:creationId xmlns:a16="http://schemas.microsoft.com/office/drawing/2014/main" id="{FD19F0EA-BAA4-478C-802E-AD4F9D2830BB}"/>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478"/>
                </a:solidFill>
                <a:latin typeface="Arial"/>
                <a:ea typeface="Arial"/>
                <a:cs typeface="Arial"/>
              </a:defRPr>
            </a:defPPr>
            <a:lvl1pPr>
              <a:defRPr sz="1050" b="0">
                <a:solidFill>
                  <a:srgbClr val="536478"/>
                </a:solidFill>
                <a:latin typeface="Arial"/>
                <a:ea typeface="Arial"/>
                <a:cs typeface="Arial"/>
              </a:defRPr>
            </a:lvl1pPr>
            <a:lvl2pPr>
              <a:defRPr sz="1050" b="0">
                <a:solidFill>
                  <a:srgbClr val="536478"/>
                </a:solidFill>
                <a:latin typeface="Arial"/>
                <a:ea typeface="Arial"/>
                <a:cs typeface="Arial"/>
              </a:defRPr>
            </a:lvl2pPr>
            <a:lvl3pPr>
              <a:defRPr sz="1050" b="0">
                <a:solidFill>
                  <a:srgbClr val="536478"/>
                </a:solidFill>
                <a:latin typeface="Arial"/>
                <a:ea typeface="Arial"/>
                <a:cs typeface="Arial"/>
              </a:defRPr>
            </a:lvl3pPr>
            <a:lvl4pPr>
              <a:defRPr sz="1050" b="0">
                <a:solidFill>
                  <a:srgbClr val="536478"/>
                </a:solidFill>
                <a:latin typeface="Arial"/>
                <a:ea typeface="Arial"/>
                <a:cs typeface="Arial"/>
              </a:defRPr>
            </a:lvl4pPr>
            <a:lvl5pPr>
              <a:defRPr sz="1050" b="0">
                <a:solidFill>
                  <a:srgbClr val="536478"/>
                </a:solidFill>
                <a:latin typeface="Arial"/>
                <a:ea typeface="Arial"/>
                <a:cs typeface="Arial"/>
              </a:defRPr>
            </a:lvl5pPr>
            <a:lvl6pPr>
              <a:defRPr sz="1050" b="0">
                <a:solidFill>
                  <a:srgbClr val="536478"/>
                </a:solidFill>
                <a:latin typeface="Arial"/>
                <a:ea typeface="Arial"/>
                <a:cs typeface="Arial"/>
              </a:defRPr>
            </a:lvl6pPr>
            <a:lvl7pPr>
              <a:defRPr sz="1050" b="0">
                <a:solidFill>
                  <a:srgbClr val="536478"/>
                </a:solidFill>
                <a:latin typeface="Arial"/>
                <a:ea typeface="Arial"/>
                <a:cs typeface="Arial"/>
              </a:defRPr>
            </a:lvl7pPr>
            <a:lvl8pPr>
              <a:defRPr sz="1050" b="0">
                <a:solidFill>
                  <a:srgbClr val="536478"/>
                </a:solidFill>
                <a:latin typeface="Arial"/>
                <a:ea typeface="Arial"/>
                <a:cs typeface="Arial"/>
              </a:defRPr>
            </a:lvl8pPr>
            <a:lvl9pPr>
              <a:defRPr sz="1050" b="0">
                <a:solidFill>
                  <a:srgbClr val="536478"/>
                </a:solidFill>
                <a:latin typeface="Arial"/>
                <a:ea typeface="Arial"/>
                <a:cs typeface="Arial"/>
              </a:defRPr>
            </a:lvl9pPr>
          </a:lstStyle>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HeroVired AI/ML Capstone · Sanket Toche · 2/8</a:t>
            </a:r>
          </a:p>
        </p:txBody>
      </p:sp>
      <p:sp>
        <p:nvSpPr>
          <p:cNvPr id="3" name="">
            <a:extLst xmlns:a="http://schemas.openxmlformats.org/drawingml/2006/main">
              <a:ext uri="{FF2B5EF4-FFF2-40B4-BE49-F238E27FC236}">
                <a16:creationId xmlns:a16="http://schemas.microsoft.com/office/drawing/2014/main" id="{7A75FAD7-180E-4B9F-9B73-B27186E205AE}"/>
              </a:ext>
            </a:extLst>
          </p:cNvPr>
          <p:cNvSpPr>
            <a:spLocks xmlns:a="http://schemas.openxmlformats.org/drawingml/2006/main" noGrp="1"/>
          </p:cNvSpPr>
          <p:nvPr/>
        </p:nvSpPr>
        <p:spPr>
          <a:xfrm xmlns:a="http://schemas.openxmlformats.org/drawingml/2006/main">
            <a:off x="647700" y="13144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27F76"/>
                </a:solidFill>
                <a:latin typeface="Arial"/>
                <a:ea typeface="Arial"/>
                <a:cs typeface="Arial"/>
              </a:defRPr>
            </a:defPPr>
            <a:lvl1pPr>
              <a:defRPr sz="1875" b="1">
                <a:solidFill>
                  <a:srgbClr val="127F76"/>
                </a:solidFill>
                <a:latin typeface="Arial"/>
                <a:ea typeface="Arial"/>
                <a:cs typeface="Arial"/>
              </a:defRPr>
            </a:lvl1pPr>
            <a:lvl2pPr>
              <a:defRPr sz="1875" b="1">
                <a:solidFill>
                  <a:srgbClr val="127F76"/>
                </a:solidFill>
                <a:latin typeface="Arial"/>
                <a:ea typeface="Arial"/>
                <a:cs typeface="Arial"/>
              </a:defRPr>
            </a:lvl2pPr>
            <a:lvl3pPr>
              <a:defRPr sz="1875" b="1">
                <a:solidFill>
                  <a:srgbClr val="127F76"/>
                </a:solidFill>
                <a:latin typeface="Arial"/>
                <a:ea typeface="Arial"/>
                <a:cs typeface="Arial"/>
              </a:defRPr>
            </a:lvl3pPr>
            <a:lvl4pPr>
              <a:defRPr sz="1875" b="1">
                <a:solidFill>
                  <a:srgbClr val="127F76"/>
                </a:solidFill>
                <a:latin typeface="Arial"/>
                <a:ea typeface="Arial"/>
                <a:cs typeface="Arial"/>
              </a:defRPr>
            </a:lvl4pPr>
            <a:lvl5pPr>
              <a:defRPr sz="1875" b="1">
                <a:solidFill>
                  <a:srgbClr val="127F76"/>
                </a:solidFill>
                <a:latin typeface="Arial"/>
                <a:ea typeface="Arial"/>
                <a:cs typeface="Arial"/>
              </a:defRPr>
            </a:lvl5pPr>
            <a:lvl6pPr>
              <a:defRPr sz="1875" b="1">
                <a:solidFill>
                  <a:srgbClr val="127F76"/>
                </a:solidFill>
                <a:latin typeface="Arial"/>
                <a:ea typeface="Arial"/>
                <a:cs typeface="Arial"/>
              </a:defRPr>
            </a:lvl6pPr>
            <a:lvl7pPr>
              <a:defRPr sz="1875" b="1">
                <a:solidFill>
                  <a:srgbClr val="127F76"/>
                </a:solidFill>
                <a:latin typeface="Arial"/>
                <a:ea typeface="Arial"/>
                <a:cs typeface="Arial"/>
              </a:defRPr>
            </a:lvl7pPr>
            <a:lvl8pPr>
              <a:defRPr sz="1875" b="1">
                <a:solidFill>
                  <a:srgbClr val="127F76"/>
                </a:solidFill>
                <a:latin typeface="Arial"/>
                <a:ea typeface="Arial"/>
                <a:cs typeface="Arial"/>
              </a:defRPr>
            </a:lvl8pPr>
            <a:lvl9pPr>
              <a:defRPr sz="1875" b="1">
                <a:solidFill>
                  <a:srgbClr val="127F76"/>
                </a:solidFill>
                <a:latin typeface="Arial"/>
                <a:ea typeface="Arial"/>
                <a:cs typeface="Arial"/>
              </a:defRPr>
            </a:lvl9pPr>
          </a:lstStyle>
          <a:p xmlns:a="http://schemas.openxmlformats.org/drawingml/2006/main">
            <a:pPr>
              <a:defRPr sz="1875" b="1">
                <a:solidFill>
                  <a:srgbClr val="127F76"/>
                </a:solidFill>
                <a:latin typeface="Arial"/>
                <a:ea typeface="Arial"/>
                <a:cs typeface="Arial"/>
              </a:defRPr>
            </a:pPr>
            <a:r>
              <a:rPr sz="1875" b="1">
                <a:solidFill>
                  <a:srgbClr val="127F76"/>
                </a:solidFill>
                <a:latin typeface="Arial"/>
                <a:ea typeface="Arial"/>
                <a:cs typeface="Arial"/>
              </a:rPr>
              <a:t>Hugging Face: facehuggerapoorv/resume-jd-match</a:t>
            </a:r>
          </a:p>
        </p:txBody>
      </p:sp>
      <p:graphicFrame>
        <p:nvGraphicFramePr>
          <p:cNvPr id="4" name="">
            <a:extLst xmlns:a="http://schemas.openxmlformats.org/drawingml/2006/main">
              <a:ext uri="{FF2B5EF4-FFF2-40B4-BE49-F238E27FC236}">
                <a16:creationId xmlns:a16="http://schemas.microsoft.com/office/drawing/2014/main" id="{29B2684D-BAA4-4933-957D-CC5D81464CC0}"/>
              </a:ext>
            </a:extLst>
          </p:cNvPr>
          <p:cNvGraphicFramePr/>
          <p:nvPr/>
        </p:nvGraphicFramePr>
        <p:xfrm>
          <a:off xmlns:a="http://schemas.openxmlformats.org/drawingml/2006/main" x="647700" y="1933575"/>
          <a:ext xmlns:a="http://schemas.openxmlformats.org/drawingml/2006/main" cx="6858000" cy="3429000"/>
        </p:xfrm>
        <a:graphic xmlns:a="http://schemas.openxmlformats.org/drawingml/2006/main">
          <a:graphicData uri="http://schemas.openxmlformats.org/drawingml/2006/table">
            <a:tbl>
              <a:tblPr/>
              <a:tblGrid>
                <a:gridCol w="2381250"/>
                <a:gridCol w="952500"/>
                <a:gridCol w="3524250"/>
              </a:tblGrid>
              <a:tr h="571500">
                <a:tc>
                  <a:txBody>
                    <a:bodyPr/>
                    <a:lstStyle/>
                    <a:p>
                      <a:r>
                        <a:rPr sz="1500" b="1">
                          <a:solidFill>
                            <a:srgbClr val="FFFFFF"/>
                          </a:solidFill>
                          <a:latin typeface="Arial"/>
                          <a:ea typeface="Arial"/>
                          <a:cs typeface="Arial"/>
                        </a:rPr>
                        <a:t>Stage</a:t>
                      </a:r>
                    </a:p>
                  </a:txBody>
                  <a:tcPr marL="91440" marR="91440" marT="45720" marB="45720">
                    <a:lnL w="9525">
                      <a:solidFill>
                        <a:srgbClr val="D6DEE7"/>
                      </a:solidFill>
                      <a:prstDash val="solid"/>
                    </a:lnL>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Pairs</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Purpose</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r>
              <a:tr h="571500">
                <a:tc>
                  <a:txBody>
                    <a:bodyPr/>
                    <a:lstStyle/>
                    <a:p>
                      <a:r>
                        <a:rPr sz="1500" b="0">
                          <a:solidFill>
                            <a:srgbClr val="14243A"/>
                          </a:solidFill>
                          <a:latin typeface="Arial"/>
                          <a:ea typeface="Arial"/>
                          <a:cs typeface="Arial"/>
                        </a:rPr>
                        <a:t>Source dataset</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8,000</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Public train + test</a:t>
                      </a:r>
                    </a:p>
                  </a:txBody>
                  <a:tcPr marL="91440" marR="91440" marT="45720" marB="45720">
                    <a:lnR w="9525">
                      <a:solidFill>
                        <a:srgbClr val="D6DEE7"/>
                      </a:solidFill>
                      <a:prstDash val="solid"/>
                    </a:lnR>
                    <a:lnB w="9525">
                      <a:solidFill>
                        <a:srgbClr val="D6DEE7"/>
                      </a:solidFill>
                      <a:prstDash val="solid"/>
                    </a:lnB>
                    <a:solidFill>
                      <a:srgbClr val="FFFFFF"/>
                    </a:solidFill>
                  </a:tcPr>
                </a:tc>
              </a:tr>
              <a:tr h="571500">
                <a:tc>
                  <a:txBody>
                    <a:bodyPr/>
                    <a:lstStyle/>
                    <a:p>
                      <a:r>
                        <a:rPr sz="1500" b="0">
                          <a:solidFill>
                            <a:srgbClr val="14243A"/>
                          </a:solidFill>
                          <a:latin typeface="Arial"/>
                          <a:ea typeface="Arial"/>
                          <a:cs typeface="Arial"/>
                        </a:rPr>
                        <a:t>Development train</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5025</a:t>
                      </a:r>
                    </a:p>
                  </a:txBody>
                  <a:tcPr marL="91440" marR="91440" marT="45720" marB="45720">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Fit configurations</a:t>
                      </a:r>
                    </a:p>
                  </a:txBody>
                  <a:tcPr marL="91440" marR="91440" marT="45720" marB="45720">
                    <a:lnR w="9525">
                      <a:solidFill>
                        <a:srgbClr val="D6DEE7"/>
                      </a:solidFill>
                      <a:prstDash val="solid"/>
                    </a:lnR>
                    <a:lnB w="9525">
                      <a:solidFill>
                        <a:srgbClr val="D6DEE7"/>
                      </a:solidFill>
                      <a:prstDash val="solid"/>
                    </a:lnB>
                    <a:solidFill>
                      <a:srgbClr val="F6F8FB"/>
                    </a:solidFill>
                  </a:tcPr>
                </a:tc>
              </a:tr>
              <a:tr h="571500">
                <a:tc>
                  <a:txBody>
                    <a:bodyPr/>
                    <a:lstStyle/>
                    <a:p>
                      <a:r>
                        <a:rPr sz="1500" b="0">
                          <a:solidFill>
                            <a:srgbClr val="14243A"/>
                          </a:solidFill>
                          <a:latin typeface="Arial"/>
                          <a:ea typeface="Arial"/>
                          <a:cs typeface="Arial"/>
                        </a:rPr>
                        <a:t>Validation</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1203</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Select by macro F1</a:t>
                      </a:r>
                    </a:p>
                  </a:txBody>
                  <a:tcPr marL="91440" marR="91440" marT="45720" marB="45720">
                    <a:lnR w="9525">
                      <a:solidFill>
                        <a:srgbClr val="D6DEE7"/>
                      </a:solidFill>
                      <a:prstDash val="solid"/>
                    </a:lnR>
                    <a:lnB w="9525">
                      <a:solidFill>
                        <a:srgbClr val="D6DEE7"/>
                      </a:solidFill>
                      <a:prstDash val="solid"/>
                    </a:lnB>
                    <a:solidFill>
                      <a:srgbClr val="FFFFFF"/>
                    </a:solidFill>
                  </a:tcPr>
                </a:tc>
              </a:tr>
              <a:tr h="571500">
                <a:tc>
                  <a:txBody>
                    <a:bodyPr/>
                    <a:lstStyle/>
                    <a:p>
                      <a:r>
                        <a:rPr sz="1500" b="0">
                          <a:solidFill>
                            <a:srgbClr val="14243A"/>
                          </a:solidFill>
                          <a:latin typeface="Arial"/>
                          <a:ea typeface="Arial"/>
                          <a:cs typeface="Arial"/>
                        </a:rPr>
                        <a:t>Final training</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6228</a:t>
                      </a:r>
                    </a:p>
                  </a:txBody>
                  <a:tcPr marL="91440" marR="91440" marT="45720" marB="45720">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Refit selected model</a:t>
                      </a:r>
                    </a:p>
                  </a:txBody>
                  <a:tcPr marL="91440" marR="91440" marT="45720" marB="45720">
                    <a:lnR w="9525">
                      <a:solidFill>
                        <a:srgbClr val="D6DEE7"/>
                      </a:solidFill>
                      <a:prstDash val="solid"/>
                    </a:lnR>
                    <a:lnB w="9525">
                      <a:solidFill>
                        <a:srgbClr val="D6DEE7"/>
                      </a:solidFill>
                      <a:prstDash val="solid"/>
                    </a:lnB>
                    <a:solidFill>
                      <a:srgbClr val="F6F8FB"/>
                    </a:solidFill>
                  </a:tcPr>
                </a:tc>
              </a:tr>
              <a:tr h="571500">
                <a:tc>
                  <a:txBody>
                    <a:bodyPr/>
                    <a:lstStyle/>
                    <a:p>
                      <a:r>
                        <a:rPr sz="1500" b="0">
                          <a:solidFill>
                            <a:srgbClr val="14243A"/>
                          </a:solidFill>
                          <a:latin typeface="Arial"/>
                          <a:ea typeface="Arial"/>
                          <a:cs typeface="Arial"/>
                        </a:rPr>
                        <a:t>Original test</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1759</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Report final results</a:t>
                      </a:r>
                    </a:p>
                  </a:txBody>
                  <a:tcPr marL="91440" marR="91440" marT="45720" marB="45720">
                    <a:lnR w="9525">
                      <a:solidFill>
                        <a:srgbClr val="D6DEE7"/>
                      </a:solidFill>
                      <a:prstDash val="solid"/>
                    </a:lnR>
                    <a:lnB w="9525">
                      <a:solidFill>
                        <a:srgbClr val="D6DE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F7CE9DF-E420-478A-96B5-ABFBFF408D85}"/>
              </a:ext>
            </a:extLst>
          </p:cNvPr>
          <p:cNvSpPr>
            <a:spLocks xmlns:a="http://schemas.openxmlformats.org/drawingml/2006/main" noGrp="1"/>
          </p:cNvSpPr>
          <p:nvPr/>
        </p:nvSpPr>
        <p:spPr>
          <a:xfrm xmlns:a="http://schemas.openxmlformats.org/drawingml/2006/main">
            <a:off x="8001000" y="19907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243A"/>
                </a:solidFill>
                <a:latin typeface="Arial"/>
                <a:ea typeface="Arial"/>
                <a:cs typeface="Arial"/>
              </a:defRPr>
            </a:defPPr>
            <a:lvl1pPr>
              <a:defRPr sz="1950" b="1">
                <a:solidFill>
                  <a:srgbClr val="14243A"/>
                </a:solidFill>
                <a:latin typeface="Arial"/>
                <a:ea typeface="Arial"/>
                <a:cs typeface="Arial"/>
              </a:defRPr>
            </a:lvl1pPr>
            <a:lvl2pPr>
              <a:defRPr sz="1950" b="1">
                <a:solidFill>
                  <a:srgbClr val="14243A"/>
                </a:solidFill>
                <a:latin typeface="Arial"/>
                <a:ea typeface="Arial"/>
                <a:cs typeface="Arial"/>
              </a:defRPr>
            </a:lvl2pPr>
            <a:lvl3pPr>
              <a:defRPr sz="1950" b="1">
                <a:solidFill>
                  <a:srgbClr val="14243A"/>
                </a:solidFill>
                <a:latin typeface="Arial"/>
                <a:ea typeface="Arial"/>
                <a:cs typeface="Arial"/>
              </a:defRPr>
            </a:lvl3pPr>
            <a:lvl4pPr>
              <a:defRPr sz="1950" b="1">
                <a:solidFill>
                  <a:srgbClr val="14243A"/>
                </a:solidFill>
                <a:latin typeface="Arial"/>
                <a:ea typeface="Arial"/>
                <a:cs typeface="Arial"/>
              </a:defRPr>
            </a:lvl4pPr>
            <a:lvl5pPr>
              <a:defRPr sz="1950" b="1">
                <a:solidFill>
                  <a:srgbClr val="14243A"/>
                </a:solidFill>
                <a:latin typeface="Arial"/>
                <a:ea typeface="Arial"/>
                <a:cs typeface="Arial"/>
              </a:defRPr>
            </a:lvl5pPr>
            <a:lvl6pPr>
              <a:defRPr sz="1950" b="1">
                <a:solidFill>
                  <a:srgbClr val="14243A"/>
                </a:solidFill>
                <a:latin typeface="Arial"/>
                <a:ea typeface="Arial"/>
                <a:cs typeface="Arial"/>
              </a:defRPr>
            </a:lvl6pPr>
            <a:lvl7pPr>
              <a:defRPr sz="1950" b="1">
                <a:solidFill>
                  <a:srgbClr val="14243A"/>
                </a:solidFill>
                <a:latin typeface="Arial"/>
                <a:ea typeface="Arial"/>
                <a:cs typeface="Arial"/>
              </a:defRPr>
            </a:lvl7pPr>
            <a:lvl8pPr>
              <a:defRPr sz="1950" b="1">
                <a:solidFill>
                  <a:srgbClr val="14243A"/>
                </a:solidFill>
                <a:latin typeface="Arial"/>
                <a:ea typeface="Arial"/>
                <a:cs typeface="Arial"/>
              </a:defRPr>
            </a:lvl8pPr>
            <a:lvl9pPr>
              <a:defRPr sz="1950" b="1">
                <a:solidFill>
                  <a:srgbClr val="14243A"/>
                </a:solidFill>
                <a:latin typeface="Arial"/>
                <a:ea typeface="Arial"/>
                <a:cs typeface="Arial"/>
              </a:defRPr>
            </a:lvl9pPr>
          </a:lstStyle>
          <a:p xmlns:a="http://schemas.openxmlformats.org/drawingml/2006/main">
            <a:pPr>
              <a:defRPr sz="1950" b="1">
                <a:solidFill>
                  <a:srgbClr val="14243A"/>
                </a:solidFill>
                <a:latin typeface="Arial"/>
                <a:ea typeface="Arial"/>
                <a:cs typeface="Arial"/>
              </a:defRPr>
            </a:pPr>
            <a:r>
              <a:rPr sz="1950" b="1">
                <a:solidFill>
                  <a:srgbClr val="14243A"/>
                </a:solidFill>
                <a:latin typeface="Arial"/>
                <a:ea typeface="Arial"/>
                <a:cs typeface="Arial"/>
              </a:rPr>
              <a:t>Example schema</a:t>
            </a:r>
          </a:p>
        </p:txBody>
      </p:sp>
      <p:sp>
        <p:nvSpPr>
          <p:cNvPr id="6" name="">
            <a:extLst xmlns:a="http://schemas.openxmlformats.org/drawingml/2006/main">
              <a:ext uri="{FF2B5EF4-FFF2-40B4-BE49-F238E27FC236}">
                <a16:creationId xmlns:a16="http://schemas.microsoft.com/office/drawing/2014/main" id="{680F22FC-9636-4DDE-9BD3-7AEBF3F77234}"/>
              </a:ext>
            </a:extLst>
          </p:cNvPr>
          <p:cNvSpPr>
            <a:spLocks xmlns:a="http://schemas.openxmlformats.org/drawingml/2006/main" noGrp="1"/>
          </p:cNvSpPr>
          <p:nvPr/>
        </p:nvSpPr>
        <p:spPr>
          <a:xfrm xmlns:a="http://schemas.openxmlformats.org/drawingml/2006/main">
            <a:off x="8001000" y="2571750"/>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43A"/>
                </a:solidFill>
                <a:latin typeface="Arial"/>
                <a:ea typeface="Arial"/>
                <a:cs typeface="Arial"/>
              </a:defRPr>
            </a:defPPr>
            <a:lvl1pPr>
              <a:defRPr sz="1800" b="0">
                <a:solidFill>
                  <a:srgbClr val="14243A"/>
                </a:solidFill>
                <a:latin typeface="Arial"/>
                <a:ea typeface="Arial"/>
                <a:cs typeface="Arial"/>
              </a:defRPr>
            </a:lvl1pPr>
            <a:lvl2pPr>
              <a:defRPr sz="1800" b="0">
                <a:solidFill>
                  <a:srgbClr val="14243A"/>
                </a:solidFill>
                <a:latin typeface="Arial"/>
                <a:ea typeface="Arial"/>
                <a:cs typeface="Arial"/>
              </a:defRPr>
            </a:lvl2pPr>
            <a:lvl3pPr>
              <a:defRPr sz="1800" b="0">
                <a:solidFill>
                  <a:srgbClr val="14243A"/>
                </a:solidFill>
                <a:latin typeface="Arial"/>
                <a:ea typeface="Arial"/>
                <a:cs typeface="Arial"/>
              </a:defRPr>
            </a:lvl3pPr>
            <a:lvl4pPr>
              <a:defRPr sz="1800" b="0">
                <a:solidFill>
                  <a:srgbClr val="14243A"/>
                </a:solidFill>
                <a:latin typeface="Arial"/>
                <a:ea typeface="Arial"/>
                <a:cs typeface="Arial"/>
              </a:defRPr>
            </a:lvl4pPr>
            <a:lvl5pPr>
              <a:defRPr sz="1800" b="0">
                <a:solidFill>
                  <a:srgbClr val="14243A"/>
                </a:solidFill>
                <a:latin typeface="Arial"/>
                <a:ea typeface="Arial"/>
                <a:cs typeface="Arial"/>
              </a:defRPr>
            </a:lvl5pPr>
            <a:lvl6pPr>
              <a:defRPr sz="1800" b="0">
                <a:solidFill>
                  <a:srgbClr val="14243A"/>
                </a:solidFill>
                <a:latin typeface="Arial"/>
                <a:ea typeface="Arial"/>
                <a:cs typeface="Arial"/>
              </a:defRPr>
            </a:lvl6pPr>
            <a:lvl7pPr>
              <a:defRPr sz="1800" b="0">
                <a:solidFill>
                  <a:srgbClr val="14243A"/>
                </a:solidFill>
                <a:latin typeface="Arial"/>
                <a:ea typeface="Arial"/>
                <a:cs typeface="Arial"/>
              </a:defRPr>
            </a:lvl7pPr>
            <a:lvl8pPr>
              <a:defRPr sz="1800" b="0">
                <a:solidFill>
                  <a:srgbClr val="14243A"/>
                </a:solidFill>
                <a:latin typeface="Arial"/>
                <a:ea typeface="Arial"/>
                <a:cs typeface="Arial"/>
              </a:defRPr>
            </a:lvl8pPr>
            <a:lvl9pPr>
              <a:defRPr sz="1800" b="0">
                <a:solidFill>
                  <a:srgbClr val="14243A"/>
                </a:solidFill>
                <a:latin typeface="Arial"/>
                <a:ea typeface="Arial"/>
                <a:cs typeface="Arial"/>
              </a:defRPr>
            </a:lvl9pPr>
          </a:lstStyle>
          <a:p xmlns:a="http://schemas.openxmlformats.org/drawingml/2006/main">
            <a:pPr>
              <a:defRPr sz="1800" b="0">
                <a:solidFill>
                  <a:srgbClr val="14243A"/>
                </a:solidFill>
                <a:latin typeface="Arial"/>
                <a:ea typeface="Arial"/>
                <a:cs typeface="Arial"/>
              </a:defRPr>
            </a:pPr>
            <a:r>
              <a:rPr sz="1800" b="0">
                <a:solidFill>
                  <a:srgbClr val="14243A"/>
                </a:solidFill>
                <a:latin typeface="Arial"/>
                <a:ea typeface="Arial"/>
                <a:cs typeface="Arial"/>
              </a:rPr>
              <a:t>Resume: Python engineer with SQL experience</a:t>
            </a:r>
          </a:p>
          <a:p xmlns:a="http://schemas.openxmlformats.org/drawingml/2006/main">
            <a:r>
              <a:t/>
            </a:r>
          </a:p>
          <a:p xmlns:a="http://schemas.openxmlformats.org/drawingml/2006/main">
            <a:pPr>
              <a:defRPr sz="1800" b="0">
                <a:solidFill>
                  <a:srgbClr val="14243A"/>
                </a:solidFill>
                <a:latin typeface="Arial"/>
                <a:ea typeface="Arial"/>
                <a:cs typeface="Arial"/>
              </a:defRPr>
            </a:pPr>
            <a:r>
              <a:rPr sz="1800" b="0">
                <a:solidFill>
                  <a:srgbClr val="14243A"/>
                </a:solidFill>
                <a:latin typeface="Arial"/>
                <a:ea typeface="Arial"/>
                <a:cs typeface="Arial"/>
              </a:rPr>
              <a:t>JD: Python, SQL and Docker</a:t>
            </a:r>
          </a:p>
          <a:p xmlns:a="http://schemas.openxmlformats.org/drawingml/2006/main">
            <a:r>
              <a:t/>
            </a:r>
          </a:p>
          <a:p xmlns:a="http://schemas.openxmlformats.org/drawingml/2006/main">
            <a:pPr>
              <a:defRPr sz="1800" b="0">
                <a:solidFill>
                  <a:srgbClr val="14243A"/>
                </a:solidFill>
                <a:latin typeface="Arial"/>
                <a:ea typeface="Arial"/>
                <a:cs typeface="Arial"/>
              </a:defRPr>
            </a:pPr>
            <a:r>
              <a:rPr sz="1800" b="0">
                <a:solidFill>
                  <a:srgbClr val="14243A"/>
                </a:solidFill>
                <a:latin typeface="Arial"/>
                <a:ea typeface="Arial"/>
                <a:cs typeface="Arial"/>
              </a:rPr>
              <a:t>Label: Potential Fit</a:t>
            </a:r>
          </a:p>
        </p:txBody>
      </p:sp>
      <p:sp>
        <p:nvSpPr>
          <p:cNvPr id="7" name="">
            <a:extLst xmlns:a="http://schemas.openxmlformats.org/drawingml/2006/main">
              <a:ext uri="{FF2B5EF4-FFF2-40B4-BE49-F238E27FC236}">
                <a16:creationId xmlns:a16="http://schemas.microsoft.com/office/drawing/2014/main" id="{EA95C189-69E3-4200-82B6-96BB70A2E3B0}"/>
              </a:ext>
            </a:extLst>
          </p:cNvPr>
          <p:cNvSpPr>
            <a:spLocks xmlns:a="http://schemas.openxmlformats.org/drawingml/2006/main" noGrp="1"/>
          </p:cNvSpPr>
          <p:nvPr/>
        </p:nvSpPr>
        <p:spPr>
          <a:xfrm xmlns:a="http://schemas.openxmlformats.org/drawingml/2006/main">
            <a:off x="8001000" y="50577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478"/>
                </a:solidFill>
                <a:latin typeface="Arial"/>
                <a:ea typeface="Arial"/>
                <a:cs typeface="Arial"/>
              </a:defRPr>
            </a:defPPr>
            <a:lvl1pPr>
              <a:defRPr sz="1275" b="0">
                <a:solidFill>
                  <a:srgbClr val="536478"/>
                </a:solidFill>
                <a:latin typeface="Arial"/>
                <a:ea typeface="Arial"/>
                <a:cs typeface="Arial"/>
              </a:defRPr>
            </a:lvl1pPr>
            <a:lvl2pPr>
              <a:defRPr sz="1275" b="0">
                <a:solidFill>
                  <a:srgbClr val="536478"/>
                </a:solidFill>
                <a:latin typeface="Arial"/>
                <a:ea typeface="Arial"/>
                <a:cs typeface="Arial"/>
              </a:defRPr>
            </a:lvl2pPr>
            <a:lvl3pPr>
              <a:defRPr sz="1275" b="0">
                <a:solidFill>
                  <a:srgbClr val="536478"/>
                </a:solidFill>
                <a:latin typeface="Arial"/>
                <a:ea typeface="Arial"/>
                <a:cs typeface="Arial"/>
              </a:defRPr>
            </a:lvl3pPr>
            <a:lvl4pPr>
              <a:defRPr sz="1275" b="0">
                <a:solidFill>
                  <a:srgbClr val="536478"/>
                </a:solidFill>
                <a:latin typeface="Arial"/>
                <a:ea typeface="Arial"/>
                <a:cs typeface="Arial"/>
              </a:defRPr>
            </a:lvl4pPr>
            <a:lvl5pPr>
              <a:defRPr sz="1275" b="0">
                <a:solidFill>
                  <a:srgbClr val="536478"/>
                </a:solidFill>
                <a:latin typeface="Arial"/>
                <a:ea typeface="Arial"/>
                <a:cs typeface="Arial"/>
              </a:defRPr>
            </a:lvl5pPr>
            <a:lvl6pPr>
              <a:defRPr sz="1275" b="0">
                <a:solidFill>
                  <a:srgbClr val="536478"/>
                </a:solidFill>
                <a:latin typeface="Arial"/>
                <a:ea typeface="Arial"/>
                <a:cs typeface="Arial"/>
              </a:defRPr>
            </a:lvl6pPr>
            <a:lvl7pPr>
              <a:defRPr sz="1275" b="0">
                <a:solidFill>
                  <a:srgbClr val="536478"/>
                </a:solidFill>
                <a:latin typeface="Arial"/>
                <a:ea typeface="Arial"/>
                <a:cs typeface="Arial"/>
              </a:defRPr>
            </a:lvl7pPr>
            <a:lvl8pPr>
              <a:defRPr sz="1275" b="0">
                <a:solidFill>
                  <a:srgbClr val="536478"/>
                </a:solidFill>
                <a:latin typeface="Arial"/>
                <a:ea typeface="Arial"/>
                <a:cs typeface="Arial"/>
              </a:defRPr>
            </a:lvl8pPr>
            <a:lvl9pPr>
              <a:defRPr sz="1275" b="0">
                <a:solidFill>
                  <a:srgbClr val="536478"/>
                </a:solidFill>
                <a:latin typeface="Arial"/>
                <a:ea typeface="Arial"/>
                <a:cs typeface="Arial"/>
              </a:defRPr>
            </a:lvl9pPr>
          </a:lstStyle>
          <a:p xmlns:a="http://schemas.openxmlformats.org/drawingml/2006/main">
            <a:pPr>
              <a:defRPr sz="1275" b="0">
                <a:solidFill>
                  <a:srgbClr val="536478"/>
                </a:solidFill>
                <a:latin typeface="Arial"/>
                <a:ea typeface="Arial"/>
                <a:cs typeface="Arial"/>
              </a:defRPr>
            </a:pPr>
            <a:r>
              <a:rPr sz="1275" b="0">
                <a:solidFill>
                  <a:srgbClr val="536478"/>
                </a:solidFill>
                <a:latin typeface="Arial"/>
                <a:ea typeface="Arial"/>
                <a:cs typeface="Arial"/>
              </a:rPr>
              <a:t>Illustrative schema example</a:t>
            </a:r>
          </a:p>
        </p:txBody>
      </p:sp>
      <p:sp>
        <p:nvSpPr>
          <p:cNvPr id="8" name="">
            <a:extLst xmlns:a="http://schemas.openxmlformats.org/drawingml/2006/main">
              <a:ext uri="{FF2B5EF4-FFF2-40B4-BE49-F238E27FC236}">
                <a16:creationId xmlns:a16="http://schemas.microsoft.com/office/drawing/2014/main" id="{FE9D9764-F8B9-4DF2-A93B-81F3CDFF74D2}"/>
              </a:ext>
            </a:extLst>
          </p:cNvPr>
          <p:cNvSpPr>
            <a:spLocks xmlns:a="http://schemas.openxmlformats.org/drawingml/2006/main" noGrp="1"/>
          </p:cNvSpPr>
          <p:nvPr/>
        </p:nvSpPr>
        <p:spPr>
          <a:xfrm xmlns:a="http://schemas.openxmlformats.org/drawingml/2006/main">
            <a:off x="647700" y="5657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478"/>
                </a:solidFill>
                <a:latin typeface="Arial"/>
                <a:ea typeface="Arial"/>
                <a:cs typeface="Arial"/>
              </a:defRPr>
            </a:defPPr>
            <a:lvl1pPr>
              <a:defRPr sz="1500" b="0">
                <a:solidFill>
                  <a:srgbClr val="536478"/>
                </a:solidFill>
                <a:latin typeface="Arial"/>
                <a:ea typeface="Arial"/>
                <a:cs typeface="Arial"/>
              </a:defRPr>
            </a:lvl1pPr>
            <a:lvl2pPr>
              <a:defRPr sz="1500" b="0">
                <a:solidFill>
                  <a:srgbClr val="536478"/>
                </a:solidFill>
                <a:latin typeface="Arial"/>
                <a:ea typeface="Arial"/>
                <a:cs typeface="Arial"/>
              </a:defRPr>
            </a:lvl2pPr>
            <a:lvl3pPr>
              <a:defRPr sz="1500" b="0">
                <a:solidFill>
                  <a:srgbClr val="536478"/>
                </a:solidFill>
                <a:latin typeface="Arial"/>
                <a:ea typeface="Arial"/>
                <a:cs typeface="Arial"/>
              </a:defRPr>
            </a:lvl3pPr>
            <a:lvl4pPr>
              <a:defRPr sz="1500" b="0">
                <a:solidFill>
                  <a:srgbClr val="536478"/>
                </a:solidFill>
                <a:latin typeface="Arial"/>
                <a:ea typeface="Arial"/>
                <a:cs typeface="Arial"/>
              </a:defRPr>
            </a:lvl4pPr>
            <a:lvl5pPr>
              <a:defRPr sz="1500" b="0">
                <a:solidFill>
                  <a:srgbClr val="536478"/>
                </a:solidFill>
                <a:latin typeface="Arial"/>
                <a:ea typeface="Arial"/>
                <a:cs typeface="Arial"/>
              </a:defRPr>
            </a:lvl5pPr>
            <a:lvl6pPr>
              <a:defRPr sz="1500" b="0">
                <a:solidFill>
                  <a:srgbClr val="536478"/>
                </a:solidFill>
                <a:latin typeface="Arial"/>
                <a:ea typeface="Arial"/>
                <a:cs typeface="Arial"/>
              </a:defRPr>
            </a:lvl6pPr>
            <a:lvl7pPr>
              <a:defRPr sz="1500" b="0">
                <a:solidFill>
                  <a:srgbClr val="536478"/>
                </a:solidFill>
                <a:latin typeface="Arial"/>
                <a:ea typeface="Arial"/>
                <a:cs typeface="Arial"/>
              </a:defRPr>
            </a:lvl7pPr>
            <a:lvl8pPr>
              <a:defRPr sz="1500" b="0">
                <a:solidFill>
                  <a:srgbClr val="536478"/>
                </a:solidFill>
                <a:latin typeface="Arial"/>
                <a:ea typeface="Arial"/>
                <a:cs typeface="Arial"/>
              </a:defRPr>
            </a:lvl8pPr>
            <a:lvl9pPr>
              <a:defRPr sz="1500" b="0">
                <a:solidFill>
                  <a:srgbClr val="536478"/>
                </a:solidFill>
                <a:latin typeface="Arial"/>
                <a:ea typeface="Arial"/>
                <a:cs typeface="Arial"/>
              </a:defRPr>
            </a:lvl9pPr>
          </a:lstStyle>
          <a:p xmlns:a="http://schemas.openxmlformats.org/drawingml/2006/main">
            <a:pPr>
              <a:defRPr sz="1500" b="0">
                <a:solidFill>
                  <a:srgbClr val="536478"/>
                </a:solidFill>
                <a:latin typeface="Arial"/>
                <a:ea typeface="Arial"/>
                <a:cs typeface="Arial"/>
              </a:defRPr>
            </a:pPr>
            <a:r>
              <a:rPr sz="1500" b="0">
                <a:solidFill>
                  <a:srgbClr val="536478"/>
                </a:solidFill>
                <a:latin typeface="Arial"/>
                <a:ea typeface="Arial"/>
                <a:cs typeface="Arial"/>
              </a:rPr>
              <a:t>Pinned dataset revision and input hashes accompany the submission.</a:t>
            </a:r>
          </a:p>
        </p:txBody>
      </p:sp>
    </p:spTree>
    <p:extLst>
      <p:ext uri="{BB962C8B-B14F-4D97-AF65-F5344CB8AC3E}">
        <p14:creationId xmlns:p14="http://schemas.microsoft.com/office/powerpoint/2010/main" val="1660025878"/>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507CD4-08B2-4AB8-97B0-4F9BA9E047EF}"/>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43A"/>
                </a:solidFill>
                <a:latin typeface="Arial"/>
                <a:ea typeface="Arial"/>
                <a:cs typeface="Arial"/>
              </a:defRPr>
            </a:defPPr>
            <a:lvl1pPr>
              <a:defRPr sz="3000" b="1">
                <a:solidFill>
                  <a:srgbClr val="14243A"/>
                </a:solidFill>
                <a:latin typeface="Arial"/>
                <a:ea typeface="Arial"/>
                <a:cs typeface="Arial"/>
              </a:defRPr>
            </a:lvl1pPr>
            <a:lvl2pPr>
              <a:defRPr sz="3000" b="1">
                <a:solidFill>
                  <a:srgbClr val="14243A"/>
                </a:solidFill>
                <a:latin typeface="Arial"/>
                <a:ea typeface="Arial"/>
                <a:cs typeface="Arial"/>
              </a:defRPr>
            </a:lvl2pPr>
            <a:lvl3pPr>
              <a:defRPr sz="3000" b="1">
                <a:solidFill>
                  <a:srgbClr val="14243A"/>
                </a:solidFill>
                <a:latin typeface="Arial"/>
                <a:ea typeface="Arial"/>
                <a:cs typeface="Arial"/>
              </a:defRPr>
            </a:lvl3pPr>
            <a:lvl4pPr>
              <a:defRPr sz="3000" b="1">
                <a:solidFill>
                  <a:srgbClr val="14243A"/>
                </a:solidFill>
                <a:latin typeface="Arial"/>
                <a:ea typeface="Arial"/>
                <a:cs typeface="Arial"/>
              </a:defRPr>
            </a:lvl4pPr>
            <a:lvl5pPr>
              <a:defRPr sz="3000" b="1">
                <a:solidFill>
                  <a:srgbClr val="14243A"/>
                </a:solidFill>
                <a:latin typeface="Arial"/>
                <a:ea typeface="Arial"/>
                <a:cs typeface="Arial"/>
              </a:defRPr>
            </a:lvl5pPr>
            <a:lvl6pPr>
              <a:defRPr sz="3000" b="1">
                <a:solidFill>
                  <a:srgbClr val="14243A"/>
                </a:solidFill>
                <a:latin typeface="Arial"/>
                <a:ea typeface="Arial"/>
                <a:cs typeface="Arial"/>
              </a:defRPr>
            </a:lvl6pPr>
            <a:lvl7pPr>
              <a:defRPr sz="3000" b="1">
                <a:solidFill>
                  <a:srgbClr val="14243A"/>
                </a:solidFill>
                <a:latin typeface="Arial"/>
                <a:ea typeface="Arial"/>
                <a:cs typeface="Arial"/>
              </a:defRPr>
            </a:lvl7pPr>
            <a:lvl8pPr>
              <a:defRPr sz="3000" b="1">
                <a:solidFill>
                  <a:srgbClr val="14243A"/>
                </a:solidFill>
                <a:latin typeface="Arial"/>
                <a:ea typeface="Arial"/>
                <a:cs typeface="Arial"/>
              </a:defRPr>
            </a:lvl8pPr>
            <a:lvl9pPr>
              <a:defRPr sz="3000" b="1">
                <a:solidFill>
                  <a:srgbClr val="14243A"/>
                </a:solidFill>
                <a:latin typeface="Arial"/>
                <a:ea typeface="Arial"/>
                <a:cs typeface="Arial"/>
              </a:defRPr>
            </a:lvl9pPr>
          </a:lstStyle>
          <a:p xmlns:a="http://schemas.openxmlformats.org/drawingml/2006/main">
            <a:pPr>
              <a:defRPr sz="3000" b="1">
                <a:solidFill>
                  <a:srgbClr val="14243A"/>
                </a:solidFill>
                <a:latin typeface="Arial"/>
                <a:ea typeface="Arial"/>
                <a:cs typeface="Arial"/>
              </a:defRPr>
            </a:pPr>
            <a:r>
              <a:rPr sz="3000" b="1">
                <a:solidFill>
                  <a:srgbClr val="14243A"/>
                </a:solidFill>
                <a:latin typeface="Arial"/>
                <a:ea typeface="Arial"/>
                <a:cs typeface="Arial"/>
              </a:rPr>
              <a:t>EDA and preprocessing</a:t>
            </a:r>
          </a:p>
        </p:txBody>
      </p:sp>
      <p:sp>
        <p:nvSpPr>
          <p:cNvPr id="2" name="">
            <a:extLst xmlns:a="http://schemas.openxmlformats.org/drawingml/2006/main">
              <a:ext uri="{FF2B5EF4-FFF2-40B4-BE49-F238E27FC236}">
                <a16:creationId xmlns:a16="http://schemas.microsoft.com/office/drawing/2014/main" id="{32AAC0FB-1671-490A-9B6D-6B1A8A54BE36}"/>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478"/>
                </a:solidFill>
                <a:latin typeface="Arial"/>
                <a:ea typeface="Arial"/>
                <a:cs typeface="Arial"/>
              </a:defRPr>
            </a:defPPr>
            <a:lvl1pPr>
              <a:defRPr sz="1050" b="0">
                <a:solidFill>
                  <a:srgbClr val="536478"/>
                </a:solidFill>
                <a:latin typeface="Arial"/>
                <a:ea typeface="Arial"/>
                <a:cs typeface="Arial"/>
              </a:defRPr>
            </a:lvl1pPr>
            <a:lvl2pPr>
              <a:defRPr sz="1050" b="0">
                <a:solidFill>
                  <a:srgbClr val="536478"/>
                </a:solidFill>
                <a:latin typeface="Arial"/>
                <a:ea typeface="Arial"/>
                <a:cs typeface="Arial"/>
              </a:defRPr>
            </a:lvl2pPr>
            <a:lvl3pPr>
              <a:defRPr sz="1050" b="0">
                <a:solidFill>
                  <a:srgbClr val="536478"/>
                </a:solidFill>
                <a:latin typeface="Arial"/>
                <a:ea typeface="Arial"/>
                <a:cs typeface="Arial"/>
              </a:defRPr>
            </a:lvl3pPr>
            <a:lvl4pPr>
              <a:defRPr sz="1050" b="0">
                <a:solidFill>
                  <a:srgbClr val="536478"/>
                </a:solidFill>
                <a:latin typeface="Arial"/>
                <a:ea typeface="Arial"/>
                <a:cs typeface="Arial"/>
              </a:defRPr>
            </a:lvl4pPr>
            <a:lvl5pPr>
              <a:defRPr sz="1050" b="0">
                <a:solidFill>
                  <a:srgbClr val="536478"/>
                </a:solidFill>
                <a:latin typeface="Arial"/>
                <a:ea typeface="Arial"/>
                <a:cs typeface="Arial"/>
              </a:defRPr>
            </a:lvl5pPr>
            <a:lvl6pPr>
              <a:defRPr sz="1050" b="0">
                <a:solidFill>
                  <a:srgbClr val="536478"/>
                </a:solidFill>
                <a:latin typeface="Arial"/>
                <a:ea typeface="Arial"/>
                <a:cs typeface="Arial"/>
              </a:defRPr>
            </a:lvl6pPr>
            <a:lvl7pPr>
              <a:defRPr sz="1050" b="0">
                <a:solidFill>
                  <a:srgbClr val="536478"/>
                </a:solidFill>
                <a:latin typeface="Arial"/>
                <a:ea typeface="Arial"/>
                <a:cs typeface="Arial"/>
              </a:defRPr>
            </a:lvl7pPr>
            <a:lvl8pPr>
              <a:defRPr sz="1050" b="0">
                <a:solidFill>
                  <a:srgbClr val="536478"/>
                </a:solidFill>
                <a:latin typeface="Arial"/>
                <a:ea typeface="Arial"/>
                <a:cs typeface="Arial"/>
              </a:defRPr>
            </a:lvl8pPr>
            <a:lvl9pPr>
              <a:defRPr sz="1050" b="0">
                <a:solidFill>
                  <a:srgbClr val="536478"/>
                </a:solidFill>
                <a:latin typeface="Arial"/>
                <a:ea typeface="Arial"/>
                <a:cs typeface="Arial"/>
              </a:defRPr>
            </a:lvl9pPr>
          </a:lstStyle>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HeroVired AI/ML Capstone · Sanket Toche · 3/8</a:t>
            </a:r>
          </a:p>
        </p:txBody>
      </p:sp>
      <p:graphicFrame>
        <p:nvGraphicFramePr>
          <p:cNvPr id="3" name="Chart">
            <a:extLst xmlns:a="http://schemas.openxmlformats.org/drawingml/2006/main">
              <a:ext uri="{FF2B5EF4-FFF2-40B4-BE49-F238E27FC236}">
                <a16:creationId xmlns:a16="http://schemas.microsoft.com/office/drawing/2014/main" id="{55CD9ABE-FDB2-43CD-BDB6-A549FAEA5005}"/>
              </a:ext>
            </a:extLst>
          </p:cNvPr>
          <p:cNvGraphicFramePr/>
          <p:nvPr/>
        </p:nvGraphicFramePr>
        <p:xfrm>
          <a:off xmlns:a="http://schemas.openxmlformats.org/drawingml/2006/main" x="619125" y="1714500"/>
          <a:ext xmlns:a="http://schemas.openxmlformats.org/drawingml/2006/main" cx="5810250" cy="3905250"/>
        </p:xfrm>
        <a:graphic xmlns:a="http://schemas.openxmlformats.org/drawingml/2006/main">
          <a:graphicData uri="http://schemas.openxmlformats.org/drawingml/2006/chart">
            <c:chart xmlns:r="http://schemas.openxmlformats.org/officeDocument/2006/relationships" xmlns:c="http://schemas.openxmlformats.org/drawingml/2006/chart" r:id="R9a9c8ae0a87e4b01"/>
          </a:graphicData>
        </a:graphic>
      </p:graphicFrame>
      <p:sp>
        <p:nvSpPr>
          <p:cNvPr id="4" name="">
            <a:extLst xmlns:a="http://schemas.openxmlformats.org/drawingml/2006/main">
              <a:ext uri="{FF2B5EF4-FFF2-40B4-BE49-F238E27FC236}">
                <a16:creationId xmlns:a16="http://schemas.microsoft.com/office/drawing/2014/main" id="{C61943E5-BBB8-4B4C-9C68-CAB150247F4C}"/>
              </a:ext>
            </a:extLst>
          </p:cNvPr>
          <p:cNvSpPr>
            <a:spLocks xmlns:a="http://schemas.openxmlformats.org/drawingml/2006/main" noGrp="1"/>
          </p:cNvSpPr>
          <p:nvPr/>
        </p:nvSpPr>
        <p:spPr>
          <a:xfrm xmlns:a="http://schemas.openxmlformats.org/drawingml/2006/main">
            <a:off x="7000875" y="167640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43A"/>
                </a:solidFill>
                <a:latin typeface="Arial"/>
                <a:ea typeface="Arial"/>
                <a:cs typeface="Arial"/>
              </a:defRPr>
            </a:defPPr>
            <a:lvl1pPr>
              <a:defRPr sz="2025" b="1">
                <a:solidFill>
                  <a:srgbClr val="14243A"/>
                </a:solidFill>
                <a:latin typeface="Arial"/>
                <a:ea typeface="Arial"/>
                <a:cs typeface="Arial"/>
              </a:defRPr>
            </a:lvl1pPr>
            <a:lvl2pPr>
              <a:defRPr sz="2025" b="1">
                <a:solidFill>
                  <a:srgbClr val="14243A"/>
                </a:solidFill>
                <a:latin typeface="Arial"/>
                <a:ea typeface="Arial"/>
                <a:cs typeface="Arial"/>
              </a:defRPr>
            </a:lvl2pPr>
            <a:lvl3pPr>
              <a:defRPr sz="2025" b="1">
                <a:solidFill>
                  <a:srgbClr val="14243A"/>
                </a:solidFill>
                <a:latin typeface="Arial"/>
                <a:ea typeface="Arial"/>
                <a:cs typeface="Arial"/>
              </a:defRPr>
            </a:lvl3pPr>
            <a:lvl4pPr>
              <a:defRPr sz="2025" b="1">
                <a:solidFill>
                  <a:srgbClr val="14243A"/>
                </a:solidFill>
                <a:latin typeface="Arial"/>
                <a:ea typeface="Arial"/>
                <a:cs typeface="Arial"/>
              </a:defRPr>
            </a:lvl4pPr>
            <a:lvl5pPr>
              <a:defRPr sz="2025" b="1">
                <a:solidFill>
                  <a:srgbClr val="14243A"/>
                </a:solidFill>
                <a:latin typeface="Arial"/>
                <a:ea typeface="Arial"/>
                <a:cs typeface="Arial"/>
              </a:defRPr>
            </a:lvl5pPr>
            <a:lvl6pPr>
              <a:defRPr sz="2025" b="1">
                <a:solidFill>
                  <a:srgbClr val="14243A"/>
                </a:solidFill>
                <a:latin typeface="Arial"/>
                <a:ea typeface="Arial"/>
                <a:cs typeface="Arial"/>
              </a:defRPr>
            </a:lvl6pPr>
            <a:lvl7pPr>
              <a:defRPr sz="2025" b="1">
                <a:solidFill>
                  <a:srgbClr val="14243A"/>
                </a:solidFill>
                <a:latin typeface="Arial"/>
                <a:ea typeface="Arial"/>
                <a:cs typeface="Arial"/>
              </a:defRPr>
            </a:lvl7pPr>
            <a:lvl8pPr>
              <a:defRPr sz="2025" b="1">
                <a:solidFill>
                  <a:srgbClr val="14243A"/>
                </a:solidFill>
                <a:latin typeface="Arial"/>
                <a:ea typeface="Arial"/>
                <a:cs typeface="Arial"/>
              </a:defRPr>
            </a:lvl8pPr>
            <a:lvl9pPr>
              <a:defRPr sz="2025" b="1">
                <a:solidFill>
                  <a:srgbClr val="14243A"/>
                </a:solidFill>
                <a:latin typeface="Arial"/>
                <a:ea typeface="Arial"/>
                <a:cs typeface="Arial"/>
              </a:defRPr>
            </a:lvl9pPr>
          </a:lstStyle>
          <a:p xmlns:a="http://schemas.openxmlformats.org/drawingml/2006/main">
            <a:pPr>
              <a:defRPr sz="2025" b="1">
                <a:solidFill>
                  <a:srgbClr val="14243A"/>
                </a:solidFill>
                <a:latin typeface="Arial"/>
                <a:ea typeface="Arial"/>
                <a:cs typeface="Arial"/>
              </a:defRPr>
            </a:pPr>
            <a:r>
              <a:rPr sz="2025" b="1">
                <a:solidFill>
                  <a:srgbClr val="14243A"/>
                </a:solidFill>
                <a:latin typeface="Arial"/>
                <a:ea typeface="Arial"/>
                <a:cs typeface="Arial"/>
              </a:rPr>
              <a:t>Training-only quality controls</a:t>
            </a:r>
          </a:p>
        </p:txBody>
      </p:sp>
      <p:sp>
        <p:nvSpPr>
          <p:cNvPr id="5" name="">
            <a:extLst xmlns:a="http://schemas.openxmlformats.org/drawingml/2006/main">
              <a:ext uri="{FF2B5EF4-FFF2-40B4-BE49-F238E27FC236}">
                <a16:creationId xmlns:a16="http://schemas.microsoft.com/office/drawing/2014/main" id="{F6201BBD-A86B-4C2E-B893-50FBD539D012}"/>
              </a:ext>
            </a:extLst>
          </p:cNvPr>
          <p:cNvSpPr>
            <a:spLocks xmlns:a="http://schemas.openxmlformats.org/drawingml/2006/main" noGrp="1"/>
          </p:cNvSpPr>
          <p:nvPr/>
        </p:nvSpPr>
        <p:spPr>
          <a:xfrm xmlns:a="http://schemas.openxmlformats.org/drawingml/2006/main">
            <a:off x="7000875" y="2409825"/>
            <a:ext cx="4429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243A"/>
                </a:solidFill>
                <a:latin typeface="Arial"/>
                <a:ea typeface="Arial"/>
                <a:cs typeface="Arial"/>
              </a:defRPr>
            </a:defPPr>
            <a:lvl1pPr>
              <a:defRPr sz="1725" b="0">
                <a:solidFill>
                  <a:srgbClr val="14243A"/>
                </a:solidFill>
                <a:latin typeface="Arial"/>
                <a:ea typeface="Arial"/>
                <a:cs typeface="Arial"/>
              </a:defRPr>
            </a:lvl1pPr>
            <a:lvl2pPr>
              <a:defRPr sz="1725" b="0">
                <a:solidFill>
                  <a:srgbClr val="14243A"/>
                </a:solidFill>
                <a:latin typeface="Arial"/>
                <a:ea typeface="Arial"/>
                <a:cs typeface="Arial"/>
              </a:defRPr>
            </a:lvl2pPr>
            <a:lvl3pPr>
              <a:defRPr sz="1725" b="0">
                <a:solidFill>
                  <a:srgbClr val="14243A"/>
                </a:solidFill>
                <a:latin typeface="Arial"/>
                <a:ea typeface="Arial"/>
                <a:cs typeface="Arial"/>
              </a:defRPr>
            </a:lvl3pPr>
            <a:lvl4pPr>
              <a:defRPr sz="1725" b="0">
                <a:solidFill>
                  <a:srgbClr val="14243A"/>
                </a:solidFill>
                <a:latin typeface="Arial"/>
                <a:ea typeface="Arial"/>
                <a:cs typeface="Arial"/>
              </a:defRPr>
            </a:lvl4pPr>
            <a:lvl5pPr>
              <a:defRPr sz="1725" b="0">
                <a:solidFill>
                  <a:srgbClr val="14243A"/>
                </a:solidFill>
                <a:latin typeface="Arial"/>
                <a:ea typeface="Arial"/>
                <a:cs typeface="Arial"/>
              </a:defRPr>
            </a:lvl5pPr>
            <a:lvl6pPr>
              <a:defRPr sz="1725" b="0">
                <a:solidFill>
                  <a:srgbClr val="14243A"/>
                </a:solidFill>
                <a:latin typeface="Arial"/>
                <a:ea typeface="Arial"/>
                <a:cs typeface="Arial"/>
              </a:defRPr>
            </a:lvl6pPr>
            <a:lvl7pPr>
              <a:defRPr sz="1725" b="0">
                <a:solidFill>
                  <a:srgbClr val="14243A"/>
                </a:solidFill>
                <a:latin typeface="Arial"/>
                <a:ea typeface="Arial"/>
                <a:cs typeface="Arial"/>
              </a:defRPr>
            </a:lvl7pPr>
            <a:lvl8pPr>
              <a:defRPr sz="1725" b="0">
                <a:solidFill>
                  <a:srgbClr val="14243A"/>
                </a:solidFill>
                <a:latin typeface="Arial"/>
                <a:ea typeface="Arial"/>
                <a:cs typeface="Arial"/>
              </a:defRPr>
            </a:lvl8pPr>
            <a:lvl9pPr>
              <a:defRPr sz="1725" b="0">
                <a:solidFill>
                  <a:srgbClr val="14243A"/>
                </a:solidFill>
                <a:latin typeface="Arial"/>
                <a:ea typeface="Arial"/>
                <a:cs typeface="Arial"/>
              </a:defRPr>
            </a:lvl9pPr>
          </a:lstStyle>
          <a:p xmlns:a="http://schemas.openxmlformats.org/drawingml/2006/main">
            <a:pPr>
              <a:defRPr sz="1725" b="0">
                <a:solidFill>
                  <a:srgbClr val="14243A"/>
                </a:solidFill>
                <a:latin typeface="Arial"/>
                <a:ea typeface="Arial"/>
                <a:cs typeface="Arial"/>
              </a:defRPr>
            </a:pPr>
            <a:r>
              <a:rPr sz="1725" b="0">
                <a:solidFill>
                  <a:srgbClr val="14243A"/>
                </a:solidFill>
                <a:latin typeface="Arial"/>
                <a:ea typeface="Arial"/>
                <a:cs typeface="Arial"/>
              </a:rPr>
              <a:t>6 contradictory pair groups quarantined</a:t>
            </a:r>
          </a:p>
          <a:p xmlns:a="http://schemas.openxmlformats.org/drawingml/2006/main">
            <a:r>
              <a:t/>
            </a:r>
          </a:p>
          <a:p xmlns:a="http://schemas.openxmlformats.org/drawingml/2006/main">
            <a:pPr>
              <a:defRPr sz="1725" b="0">
                <a:solidFill>
                  <a:srgbClr val="14243A"/>
                </a:solidFill>
                <a:latin typeface="Arial"/>
                <a:ea typeface="Arial"/>
                <a:cs typeface="Arial"/>
              </a:defRPr>
            </a:pPr>
            <a:r>
              <a:rPr sz="1725" b="0">
                <a:solidFill>
                  <a:srgbClr val="14243A"/>
                </a:solidFill>
                <a:latin typeface="Arial"/>
                <a:ea typeface="Arial"/>
                <a:cs typeface="Arial"/>
              </a:rPr>
              <a:t>Whitespace, symbols and boilerplate cleaned</a:t>
            </a:r>
          </a:p>
          <a:p xmlns:a="http://schemas.openxmlformats.org/drawingml/2006/main">
            <a:r>
              <a:t/>
            </a:r>
          </a:p>
          <a:p xmlns:a="http://schemas.openxmlformats.org/drawingml/2006/main">
            <a:pPr>
              <a:defRPr sz="1725" b="0">
                <a:solidFill>
                  <a:srgbClr val="14243A"/>
                </a:solidFill>
                <a:latin typeface="Arial"/>
                <a:ea typeface="Arial"/>
                <a:cs typeface="Arial"/>
              </a:defRPr>
            </a:pPr>
            <a:r>
              <a:rPr sz="1725" b="0">
                <a:solidFill>
                  <a:srgbClr val="14243A"/>
                </a:solidFill>
                <a:latin typeface="Arial"/>
                <a:ea typeface="Arial"/>
                <a:cs typeface="Arial"/>
              </a:rPr>
              <a:t>Explicit demographic/contact fields redacted</a:t>
            </a:r>
          </a:p>
          <a:p xmlns:a="http://schemas.openxmlformats.org/drawingml/2006/main">
            <a:r>
              <a:t/>
            </a:r>
          </a:p>
          <a:p xmlns:a="http://schemas.openxmlformats.org/drawingml/2006/main">
            <a:pPr>
              <a:defRPr sz="1725" b="0">
                <a:solidFill>
                  <a:srgbClr val="14243A"/>
                </a:solidFill>
                <a:latin typeface="Arial"/>
                <a:ea typeface="Arial"/>
                <a:cs typeface="Arial"/>
              </a:defRPr>
            </a:pPr>
            <a:r>
              <a:rPr sz="1725" b="0">
                <a:solidFill>
                  <a:srgbClr val="14243A"/>
                </a:solidFill>
                <a:latin typeface="Arial"/>
                <a:ea typeface="Arial"/>
                <a:cs typeface="Arial"/>
              </a:rPr>
              <a:t>Long documents use chunked encoding</a:t>
            </a:r>
          </a:p>
        </p:txBody>
      </p:sp>
      <p:sp>
        <p:nvSpPr>
          <p:cNvPr id="6" name="">
            <a:extLst xmlns:a="http://schemas.openxmlformats.org/drawingml/2006/main">
              <a:ext uri="{FF2B5EF4-FFF2-40B4-BE49-F238E27FC236}">
                <a16:creationId xmlns:a16="http://schemas.microsoft.com/office/drawing/2014/main" id="{2BD5F1A7-86E0-4078-BD55-9997D8A064A3}"/>
              </a:ext>
            </a:extLst>
          </p:cNvPr>
          <p:cNvSpPr>
            <a:spLocks xmlns:a="http://schemas.openxmlformats.org/drawingml/2006/main" noGrp="1"/>
          </p:cNvSpPr>
          <p:nvPr/>
        </p:nvSpPr>
        <p:spPr>
          <a:xfrm xmlns:a="http://schemas.openxmlformats.org/drawingml/2006/main">
            <a:off x="647700" y="5810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478"/>
                </a:solidFill>
                <a:latin typeface="Arial"/>
                <a:ea typeface="Arial"/>
                <a:cs typeface="Arial"/>
              </a:defRPr>
            </a:defPPr>
            <a:lvl1pPr>
              <a:defRPr sz="1500" b="0">
                <a:solidFill>
                  <a:srgbClr val="536478"/>
                </a:solidFill>
                <a:latin typeface="Arial"/>
                <a:ea typeface="Arial"/>
                <a:cs typeface="Arial"/>
              </a:defRPr>
            </a:lvl1pPr>
            <a:lvl2pPr>
              <a:defRPr sz="1500" b="0">
                <a:solidFill>
                  <a:srgbClr val="536478"/>
                </a:solidFill>
                <a:latin typeface="Arial"/>
                <a:ea typeface="Arial"/>
                <a:cs typeface="Arial"/>
              </a:defRPr>
            </a:lvl2pPr>
            <a:lvl3pPr>
              <a:defRPr sz="1500" b="0">
                <a:solidFill>
                  <a:srgbClr val="536478"/>
                </a:solidFill>
                <a:latin typeface="Arial"/>
                <a:ea typeface="Arial"/>
                <a:cs typeface="Arial"/>
              </a:defRPr>
            </a:lvl3pPr>
            <a:lvl4pPr>
              <a:defRPr sz="1500" b="0">
                <a:solidFill>
                  <a:srgbClr val="536478"/>
                </a:solidFill>
                <a:latin typeface="Arial"/>
                <a:ea typeface="Arial"/>
                <a:cs typeface="Arial"/>
              </a:defRPr>
            </a:lvl4pPr>
            <a:lvl5pPr>
              <a:defRPr sz="1500" b="0">
                <a:solidFill>
                  <a:srgbClr val="536478"/>
                </a:solidFill>
                <a:latin typeface="Arial"/>
                <a:ea typeface="Arial"/>
                <a:cs typeface="Arial"/>
              </a:defRPr>
            </a:lvl5pPr>
            <a:lvl6pPr>
              <a:defRPr sz="1500" b="0">
                <a:solidFill>
                  <a:srgbClr val="536478"/>
                </a:solidFill>
                <a:latin typeface="Arial"/>
                <a:ea typeface="Arial"/>
                <a:cs typeface="Arial"/>
              </a:defRPr>
            </a:lvl6pPr>
            <a:lvl7pPr>
              <a:defRPr sz="1500" b="0">
                <a:solidFill>
                  <a:srgbClr val="536478"/>
                </a:solidFill>
                <a:latin typeface="Arial"/>
                <a:ea typeface="Arial"/>
                <a:cs typeface="Arial"/>
              </a:defRPr>
            </a:lvl7pPr>
            <a:lvl8pPr>
              <a:defRPr sz="1500" b="0">
                <a:solidFill>
                  <a:srgbClr val="536478"/>
                </a:solidFill>
                <a:latin typeface="Arial"/>
                <a:ea typeface="Arial"/>
                <a:cs typeface="Arial"/>
              </a:defRPr>
            </a:lvl8pPr>
            <a:lvl9pPr>
              <a:defRPr sz="1500" b="0">
                <a:solidFill>
                  <a:srgbClr val="536478"/>
                </a:solidFill>
                <a:latin typeface="Arial"/>
                <a:ea typeface="Arial"/>
                <a:cs typeface="Arial"/>
              </a:defRPr>
            </a:lvl9pPr>
          </a:lstStyle>
          <a:p xmlns:a="http://schemas.openxmlformats.org/drawingml/2006/main">
            <a:pPr>
              <a:defRPr sz="1500" b="0">
                <a:solidFill>
                  <a:srgbClr val="536478"/>
                </a:solidFill>
                <a:latin typeface="Arial"/>
                <a:ea typeface="Arial"/>
                <a:cs typeface="Arial"/>
              </a:defRPr>
            </a:pPr>
            <a:r>
              <a:rPr sz="1500" b="0">
                <a:solidFill>
                  <a:srgbClr val="536478"/>
                </a:solidFill>
                <a:latin typeface="Arial"/>
                <a:ea typeface="Arial"/>
                <a:cs typeface="Arial"/>
              </a:rPr>
              <a:t>No exact pairs or JDs overlap with the test split. Resume reuse remains a limitation.</a:t>
            </a:r>
          </a:p>
        </p:txBody>
      </p:sp>
    </p:spTree>
    <p:extLst>
      <p:ext uri="{BB962C8B-B14F-4D97-AF65-F5344CB8AC3E}">
        <p14:creationId xmlns:p14="http://schemas.microsoft.com/office/powerpoint/2010/main" val="1592382036"/>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91C2A0B-6F96-4168-A984-03CB52D58A25}"/>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43A"/>
                </a:solidFill>
                <a:latin typeface="Arial"/>
                <a:ea typeface="Arial"/>
                <a:cs typeface="Arial"/>
              </a:defRPr>
            </a:defPPr>
            <a:lvl1pPr>
              <a:defRPr sz="3000" b="1">
                <a:solidFill>
                  <a:srgbClr val="14243A"/>
                </a:solidFill>
                <a:latin typeface="Arial"/>
                <a:ea typeface="Arial"/>
                <a:cs typeface="Arial"/>
              </a:defRPr>
            </a:lvl1pPr>
            <a:lvl2pPr>
              <a:defRPr sz="3000" b="1">
                <a:solidFill>
                  <a:srgbClr val="14243A"/>
                </a:solidFill>
                <a:latin typeface="Arial"/>
                <a:ea typeface="Arial"/>
                <a:cs typeface="Arial"/>
              </a:defRPr>
            </a:lvl2pPr>
            <a:lvl3pPr>
              <a:defRPr sz="3000" b="1">
                <a:solidFill>
                  <a:srgbClr val="14243A"/>
                </a:solidFill>
                <a:latin typeface="Arial"/>
                <a:ea typeface="Arial"/>
                <a:cs typeface="Arial"/>
              </a:defRPr>
            </a:lvl3pPr>
            <a:lvl4pPr>
              <a:defRPr sz="3000" b="1">
                <a:solidFill>
                  <a:srgbClr val="14243A"/>
                </a:solidFill>
                <a:latin typeface="Arial"/>
                <a:ea typeface="Arial"/>
                <a:cs typeface="Arial"/>
              </a:defRPr>
            </a:lvl4pPr>
            <a:lvl5pPr>
              <a:defRPr sz="3000" b="1">
                <a:solidFill>
                  <a:srgbClr val="14243A"/>
                </a:solidFill>
                <a:latin typeface="Arial"/>
                <a:ea typeface="Arial"/>
                <a:cs typeface="Arial"/>
              </a:defRPr>
            </a:lvl5pPr>
            <a:lvl6pPr>
              <a:defRPr sz="3000" b="1">
                <a:solidFill>
                  <a:srgbClr val="14243A"/>
                </a:solidFill>
                <a:latin typeface="Arial"/>
                <a:ea typeface="Arial"/>
                <a:cs typeface="Arial"/>
              </a:defRPr>
            </a:lvl6pPr>
            <a:lvl7pPr>
              <a:defRPr sz="3000" b="1">
                <a:solidFill>
                  <a:srgbClr val="14243A"/>
                </a:solidFill>
                <a:latin typeface="Arial"/>
                <a:ea typeface="Arial"/>
                <a:cs typeface="Arial"/>
              </a:defRPr>
            </a:lvl7pPr>
            <a:lvl8pPr>
              <a:defRPr sz="3000" b="1">
                <a:solidFill>
                  <a:srgbClr val="14243A"/>
                </a:solidFill>
                <a:latin typeface="Arial"/>
                <a:ea typeface="Arial"/>
                <a:cs typeface="Arial"/>
              </a:defRPr>
            </a:lvl8pPr>
            <a:lvl9pPr>
              <a:defRPr sz="3000" b="1">
                <a:solidFill>
                  <a:srgbClr val="14243A"/>
                </a:solidFill>
                <a:latin typeface="Arial"/>
                <a:ea typeface="Arial"/>
                <a:cs typeface="Arial"/>
              </a:defRPr>
            </a:lvl9pPr>
          </a:lstStyle>
          <a:p xmlns:a="http://schemas.openxmlformats.org/drawingml/2006/main">
            <a:pPr>
              <a:defRPr sz="3000" b="1">
                <a:solidFill>
                  <a:srgbClr val="14243A"/>
                </a:solidFill>
                <a:latin typeface="Arial"/>
                <a:ea typeface="Arial"/>
                <a:cs typeface="Arial"/>
              </a:defRPr>
            </a:pPr>
            <a:r>
              <a:rPr sz="3000" b="1">
                <a:solidFill>
                  <a:srgbClr val="14243A"/>
                </a:solidFill>
                <a:latin typeface="Arial"/>
                <a:ea typeface="Arial"/>
                <a:cs typeface="Arial"/>
              </a:rPr>
              <a:t>Baseline and advanced architecture</a:t>
            </a:r>
          </a:p>
        </p:txBody>
      </p:sp>
      <p:sp>
        <p:nvSpPr>
          <p:cNvPr id="2" name="">
            <a:extLst xmlns:a="http://schemas.openxmlformats.org/drawingml/2006/main">
              <a:ext uri="{FF2B5EF4-FFF2-40B4-BE49-F238E27FC236}">
                <a16:creationId xmlns:a16="http://schemas.microsoft.com/office/drawing/2014/main" id="{95BB2A3A-FF7A-49CC-9D4B-66BF5D7D4617}"/>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478"/>
                </a:solidFill>
                <a:latin typeface="Arial"/>
                <a:ea typeface="Arial"/>
                <a:cs typeface="Arial"/>
              </a:defRPr>
            </a:defPPr>
            <a:lvl1pPr>
              <a:defRPr sz="1050" b="0">
                <a:solidFill>
                  <a:srgbClr val="536478"/>
                </a:solidFill>
                <a:latin typeface="Arial"/>
                <a:ea typeface="Arial"/>
                <a:cs typeface="Arial"/>
              </a:defRPr>
            </a:lvl1pPr>
            <a:lvl2pPr>
              <a:defRPr sz="1050" b="0">
                <a:solidFill>
                  <a:srgbClr val="536478"/>
                </a:solidFill>
                <a:latin typeface="Arial"/>
                <a:ea typeface="Arial"/>
                <a:cs typeface="Arial"/>
              </a:defRPr>
            </a:lvl2pPr>
            <a:lvl3pPr>
              <a:defRPr sz="1050" b="0">
                <a:solidFill>
                  <a:srgbClr val="536478"/>
                </a:solidFill>
                <a:latin typeface="Arial"/>
                <a:ea typeface="Arial"/>
                <a:cs typeface="Arial"/>
              </a:defRPr>
            </a:lvl3pPr>
            <a:lvl4pPr>
              <a:defRPr sz="1050" b="0">
                <a:solidFill>
                  <a:srgbClr val="536478"/>
                </a:solidFill>
                <a:latin typeface="Arial"/>
                <a:ea typeface="Arial"/>
                <a:cs typeface="Arial"/>
              </a:defRPr>
            </a:lvl4pPr>
            <a:lvl5pPr>
              <a:defRPr sz="1050" b="0">
                <a:solidFill>
                  <a:srgbClr val="536478"/>
                </a:solidFill>
                <a:latin typeface="Arial"/>
                <a:ea typeface="Arial"/>
                <a:cs typeface="Arial"/>
              </a:defRPr>
            </a:lvl5pPr>
            <a:lvl6pPr>
              <a:defRPr sz="1050" b="0">
                <a:solidFill>
                  <a:srgbClr val="536478"/>
                </a:solidFill>
                <a:latin typeface="Arial"/>
                <a:ea typeface="Arial"/>
                <a:cs typeface="Arial"/>
              </a:defRPr>
            </a:lvl6pPr>
            <a:lvl7pPr>
              <a:defRPr sz="1050" b="0">
                <a:solidFill>
                  <a:srgbClr val="536478"/>
                </a:solidFill>
                <a:latin typeface="Arial"/>
                <a:ea typeface="Arial"/>
                <a:cs typeface="Arial"/>
              </a:defRPr>
            </a:lvl7pPr>
            <a:lvl8pPr>
              <a:defRPr sz="1050" b="0">
                <a:solidFill>
                  <a:srgbClr val="536478"/>
                </a:solidFill>
                <a:latin typeface="Arial"/>
                <a:ea typeface="Arial"/>
                <a:cs typeface="Arial"/>
              </a:defRPr>
            </a:lvl8pPr>
            <a:lvl9pPr>
              <a:defRPr sz="1050" b="0">
                <a:solidFill>
                  <a:srgbClr val="536478"/>
                </a:solidFill>
                <a:latin typeface="Arial"/>
                <a:ea typeface="Arial"/>
                <a:cs typeface="Arial"/>
              </a:defRPr>
            </a:lvl9pPr>
          </a:lstStyle>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HeroVired AI/ML Capstone · Sanket Toche · 4/8</a:t>
            </a:r>
          </a:p>
        </p:txBody>
      </p:sp>
      <p:sp>
        <p:nvSpPr>
          <p:cNvPr id="3" name="">
            <a:extLst xmlns:a="http://schemas.openxmlformats.org/drawingml/2006/main">
              <a:ext uri="{FF2B5EF4-FFF2-40B4-BE49-F238E27FC236}">
                <a16:creationId xmlns:a16="http://schemas.microsoft.com/office/drawing/2014/main" id="{80BF4F39-B4AF-4304-A6A7-2693A7F5D669}"/>
              </a:ext>
            </a:extLst>
          </p:cNvPr>
          <p:cNvSpPr>
            <a:spLocks xmlns:a="http://schemas.openxmlformats.org/drawingml/2006/main" noGrp="1"/>
          </p:cNvSpPr>
          <p:nvPr/>
        </p:nvSpPr>
        <p:spPr>
          <a:xfrm xmlns:a="http://schemas.openxmlformats.org/drawingml/2006/main">
            <a:off x="647700" y="14573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7F76"/>
                </a:solidFill>
                <a:latin typeface="Arial"/>
                <a:ea typeface="Arial"/>
                <a:cs typeface="Arial"/>
              </a:defRPr>
            </a:defPPr>
            <a:lvl1pPr>
              <a:defRPr sz="2025" b="1">
                <a:solidFill>
                  <a:srgbClr val="127F76"/>
                </a:solidFill>
                <a:latin typeface="Arial"/>
                <a:ea typeface="Arial"/>
                <a:cs typeface="Arial"/>
              </a:defRPr>
            </a:lvl1pPr>
            <a:lvl2pPr>
              <a:defRPr sz="2025" b="1">
                <a:solidFill>
                  <a:srgbClr val="127F76"/>
                </a:solidFill>
                <a:latin typeface="Arial"/>
                <a:ea typeface="Arial"/>
                <a:cs typeface="Arial"/>
              </a:defRPr>
            </a:lvl2pPr>
            <a:lvl3pPr>
              <a:defRPr sz="2025" b="1">
                <a:solidFill>
                  <a:srgbClr val="127F76"/>
                </a:solidFill>
                <a:latin typeface="Arial"/>
                <a:ea typeface="Arial"/>
                <a:cs typeface="Arial"/>
              </a:defRPr>
            </a:lvl3pPr>
            <a:lvl4pPr>
              <a:defRPr sz="2025" b="1">
                <a:solidFill>
                  <a:srgbClr val="127F76"/>
                </a:solidFill>
                <a:latin typeface="Arial"/>
                <a:ea typeface="Arial"/>
                <a:cs typeface="Arial"/>
              </a:defRPr>
            </a:lvl4pPr>
            <a:lvl5pPr>
              <a:defRPr sz="2025" b="1">
                <a:solidFill>
                  <a:srgbClr val="127F76"/>
                </a:solidFill>
                <a:latin typeface="Arial"/>
                <a:ea typeface="Arial"/>
                <a:cs typeface="Arial"/>
              </a:defRPr>
            </a:lvl5pPr>
            <a:lvl6pPr>
              <a:defRPr sz="2025" b="1">
                <a:solidFill>
                  <a:srgbClr val="127F76"/>
                </a:solidFill>
                <a:latin typeface="Arial"/>
                <a:ea typeface="Arial"/>
                <a:cs typeface="Arial"/>
              </a:defRPr>
            </a:lvl6pPr>
            <a:lvl7pPr>
              <a:defRPr sz="2025" b="1">
                <a:solidFill>
                  <a:srgbClr val="127F76"/>
                </a:solidFill>
                <a:latin typeface="Arial"/>
                <a:ea typeface="Arial"/>
                <a:cs typeface="Arial"/>
              </a:defRPr>
            </a:lvl7pPr>
            <a:lvl8pPr>
              <a:defRPr sz="2025" b="1">
                <a:solidFill>
                  <a:srgbClr val="127F76"/>
                </a:solidFill>
                <a:latin typeface="Arial"/>
                <a:ea typeface="Arial"/>
                <a:cs typeface="Arial"/>
              </a:defRPr>
            </a:lvl8pPr>
            <a:lvl9pPr>
              <a:defRPr sz="2025" b="1">
                <a:solidFill>
                  <a:srgbClr val="127F76"/>
                </a:solidFill>
                <a:latin typeface="Arial"/>
                <a:ea typeface="Arial"/>
                <a:cs typeface="Arial"/>
              </a:defRPr>
            </a:lvl9pPr>
          </a:lstStyle>
          <a:p xmlns:a="http://schemas.openxmlformats.org/drawingml/2006/main">
            <a:pPr>
              <a:defRPr sz="2025" b="1">
                <a:solidFill>
                  <a:srgbClr val="127F76"/>
                </a:solidFill>
                <a:latin typeface="Arial"/>
                <a:ea typeface="Arial"/>
                <a:cs typeface="Arial"/>
              </a:defRPr>
            </a:pPr>
            <a:r>
              <a:rPr sz="2025" b="1">
                <a:solidFill>
                  <a:srgbClr val="127F76"/>
                </a:solidFill>
                <a:latin typeface="Arial"/>
                <a:ea typeface="Arial"/>
                <a:cs typeface="Arial"/>
              </a:rPr>
              <a:t>Baseline</a:t>
            </a:r>
          </a:p>
        </p:txBody>
      </p:sp>
      <p:sp>
        <p:nvSpPr>
          <p:cNvPr id="4" name="">
            <a:extLst xmlns:a="http://schemas.openxmlformats.org/drawingml/2006/main">
              <a:ext uri="{FF2B5EF4-FFF2-40B4-BE49-F238E27FC236}">
                <a16:creationId xmlns:a16="http://schemas.microsoft.com/office/drawing/2014/main" id="{DFFF0C36-CEEE-4F36-809A-3EE7C243A5EC}"/>
              </a:ext>
            </a:extLst>
          </p:cNvPr>
          <p:cNvSpPr>
            <a:spLocks xmlns:a="http://schemas.openxmlformats.org/drawingml/2006/main" noGrp="1"/>
          </p:cNvSpPr>
          <p:nvPr/>
        </p:nvSpPr>
        <p:spPr>
          <a:xfrm xmlns:a="http://schemas.openxmlformats.org/drawingml/2006/main">
            <a:off x="857250" y="21526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243A"/>
                </a:solidFill>
                <a:latin typeface="Arial"/>
                <a:ea typeface="Arial"/>
                <a:cs typeface="Arial"/>
              </a:defRPr>
            </a:defPPr>
            <a:lvl1pPr>
              <a:defRPr sz="1950" b="1">
                <a:solidFill>
                  <a:srgbClr val="14243A"/>
                </a:solidFill>
                <a:latin typeface="Arial"/>
                <a:ea typeface="Arial"/>
                <a:cs typeface="Arial"/>
              </a:defRPr>
            </a:lvl1pPr>
            <a:lvl2pPr>
              <a:defRPr sz="1950" b="1">
                <a:solidFill>
                  <a:srgbClr val="14243A"/>
                </a:solidFill>
                <a:latin typeface="Arial"/>
                <a:ea typeface="Arial"/>
                <a:cs typeface="Arial"/>
              </a:defRPr>
            </a:lvl2pPr>
            <a:lvl3pPr>
              <a:defRPr sz="1950" b="1">
                <a:solidFill>
                  <a:srgbClr val="14243A"/>
                </a:solidFill>
                <a:latin typeface="Arial"/>
                <a:ea typeface="Arial"/>
                <a:cs typeface="Arial"/>
              </a:defRPr>
            </a:lvl3pPr>
            <a:lvl4pPr>
              <a:defRPr sz="1950" b="1">
                <a:solidFill>
                  <a:srgbClr val="14243A"/>
                </a:solidFill>
                <a:latin typeface="Arial"/>
                <a:ea typeface="Arial"/>
                <a:cs typeface="Arial"/>
              </a:defRPr>
            </a:lvl4pPr>
            <a:lvl5pPr>
              <a:defRPr sz="1950" b="1">
                <a:solidFill>
                  <a:srgbClr val="14243A"/>
                </a:solidFill>
                <a:latin typeface="Arial"/>
                <a:ea typeface="Arial"/>
                <a:cs typeface="Arial"/>
              </a:defRPr>
            </a:lvl5pPr>
            <a:lvl6pPr>
              <a:defRPr sz="1950" b="1">
                <a:solidFill>
                  <a:srgbClr val="14243A"/>
                </a:solidFill>
                <a:latin typeface="Arial"/>
                <a:ea typeface="Arial"/>
                <a:cs typeface="Arial"/>
              </a:defRPr>
            </a:lvl6pPr>
            <a:lvl7pPr>
              <a:defRPr sz="1950" b="1">
                <a:solidFill>
                  <a:srgbClr val="14243A"/>
                </a:solidFill>
                <a:latin typeface="Arial"/>
                <a:ea typeface="Arial"/>
                <a:cs typeface="Arial"/>
              </a:defRPr>
            </a:lvl7pPr>
            <a:lvl8pPr>
              <a:defRPr sz="1950" b="1">
                <a:solidFill>
                  <a:srgbClr val="14243A"/>
                </a:solidFill>
                <a:latin typeface="Arial"/>
                <a:ea typeface="Arial"/>
                <a:cs typeface="Arial"/>
              </a:defRPr>
            </a:lvl8pPr>
            <a:lvl9pPr>
              <a:defRPr sz="1950" b="1">
                <a:solidFill>
                  <a:srgbClr val="14243A"/>
                </a:solidFill>
                <a:latin typeface="Arial"/>
                <a:ea typeface="Arial"/>
                <a:cs typeface="Arial"/>
              </a:defRPr>
            </a:lvl9pPr>
          </a:lstStyle>
          <a:p xmlns:a="http://schemas.openxmlformats.org/drawingml/2006/main">
            <a:pPr>
              <a:defRPr sz="1950" b="1">
                <a:solidFill>
                  <a:srgbClr val="14243A"/>
                </a:solidFill>
                <a:latin typeface="Arial"/>
                <a:ea typeface="Arial"/>
                <a:cs typeface="Arial"/>
              </a:defRPr>
            </a:pPr>
            <a:r>
              <a:rPr sz="1950" b="1">
                <a:solidFill>
                  <a:srgbClr val="14243A"/>
                </a:solidFill>
                <a:latin typeface="Arial"/>
                <a:ea typeface="Arial"/>
                <a:cs typeface="Arial"/>
              </a:rPr>
              <a:t>TF-IDF text vectors</a:t>
            </a:r>
          </a:p>
        </p:txBody>
      </p:sp>
      <p:sp>
        <p:nvSpPr>
          <p:cNvPr id="5" name="">
            <a:extLst xmlns:a="http://schemas.openxmlformats.org/drawingml/2006/main">
              <a:ext uri="{FF2B5EF4-FFF2-40B4-BE49-F238E27FC236}">
                <a16:creationId xmlns:a16="http://schemas.microsoft.com/office/drawing/2014/main" id="{C19ABB81-BF00-4D8C-9C7D-DDFF26A38F0F}"/>
              </a:ext>
            </a:extLst>
          </p:cNvPr>
          <p:cNvSpPr>
            <a:spLocks xmlns:a="http://schemas.openxmlformats.org/drawingml/2006/main" noGrp="1"/>
          </p:cNvSpPr>
          <p:nvPr/>
        </p:nvSpPr>
        <p:spPr>
          <a:xfrm xmlns:a="http://schemas.openxmlformats.org/drawingml/2006/main">
            <a:off x="4619625" y="215265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243A"/>
                </a:solidFill>
                <a:latin typeface="Arial"/>
                <a:ea typeface="Arial"/>
                <a:cs typeface="Arial"/>
              </a:defRPr>
            </a:defPPr>
            <a:lvl1pPr>
              <a:defRPr sz="1950" b="1">
                <a:solidFill>
                  <a:srgbClr val="14243A"/>
                </a:solidFill>
                <a:latin typeface="Arial"/>
                <a:ea typeface="Arial"/>
                <a:cs typeface="Arial"/>
              </a:defRPr>
            </a:lvl1pPr>
            <a:lvl2pPr>
              <a:defRPr sz="1950" b="1">
                <a:solidFill>
                  <a:srgbClr val="14243A"/>
                </a:solidFill>
                <a:latin typeface="Arial"/>
                <a:ea typeface="Arial"/>
                <a:cs typeface="Arial"/>
              </a:defRPr>
            </a:lvl2pPr>
            <a:lvl3pPr>
              <a:defRPr sz="1950" b="1">
                <a:solidFill>
                  <a:srgbClr val="14243A"/>
                </a:solidFill>
                <a:latin typeface="Arial"/>
                <a:ea typeface="Arial"/>
                <a:cs typeface="Arial"/>
              </a:defRPr>
            </a:lvl3pPr>
            <a:lvl4pPr>
              <a:defRPr sz="1950" b="1">
                <a:solidFill>
                  <a:srgbClr val="14243A"/>
                </a:solidFill>
                <a:latin typeface="Arial"/>
                <a:ea typeface="Arial"/>
                <a:cs typeface="Arial"/>
              </a:defRPr>
            </a:lvl4pPr>
            <a:lvl5pPr>
              <a:defRPr sz="1950" b="1">
                <a:solidFill>
                  <a:srgbClr val="14243A"/>
                </a:solidFill>
                <a:latin typeface="Arial"/>
                <a:ea typeface="Arial"/>
                <a:cs typeface="Arial"/>
              </a:defRPr>
            </a:lvl5pPr>
            <a:lvl6pPr>
              <a:defRPr sz="1950" b="1">
                <a:solidFill>
                  <a:srgbClr val="14243A"/>
                </a:solidFill>
                <a:latin typeface="Arial"/>
                <a:ea typeface="Arial"/>
                <a:cs typeface="Arial"/>
              </a:defRPr>
            </a:lvl6pPr>
            <a:lvl7pPr>
              <a:defRPr sz="1950" b="1">
                <a:solidFill>
                  <a:srgbClr val="14243A"/>
                </a:solidFill>
                <a:latin typeface="Arial"/>
                <a:ea typeface="Arial"/>
                <a:cs typeface="Arial"/>
              </a:defRPr>
            </a:lvl7pPr>
            <a:lvl8pPr>
              <a:defRPr sz="1950" b="1">
                <a:solidFill>
                  <a:srgbClr val="14243A"/>
                </a:solidFill>
                <a:latin typeface="Arial"/>
                <a:ea typeface="Arial"/>
                <a:cs typeface="Arial"/>
              </a:defRPr>
            </a:lvl8pPr>
            <a:lvl9pPr>
              <a:defRPr sz="1950" b="1">
                <a:solidFill>
                  <a:srgbClr val="14243A"/>
                </a:solidFill>
                <a:latin typeface="Arial"/>
                <a:ea typeface="Arial"/>
                <a:cs typeface="Arial"/>
              </a:defRPr>
            </a:lvl9pPr>
          </a:lstStyle>
          <a:p xmlns:a="http://schemas.openxmlformats.org/drawingml/2006/main">
            <a:pPr>
              <a:defRPr sz="1950" b="1">
                <a:solidFill>
                  <a:srgbClr val="14243A"/>
                </a:solidFill>
                <a:latin typeface="Arial"/>
                <a:ea typeface="Arial"/>
                <a:cs typeface="Arial"/>
              </a:defRPr>
            </a:pPr>
            <a:r>
              <a:rPr sz="1950" b="1">
                <a:solidFill>
                  <a:srgbClr val="14243A"/>
                </a:solidFill>
                <a:latin typeface="Arial"/>
                <a:ea typeface="Arial"/>
                <a:cs typeface="Arial"/>
              </a:rPr>
              <a:t>8 overlap features</a:t>
            </a:r>
          </a:p>
        </p:txBody>
      </p:sp>
      <p:sp>
        <p:nvSpPr>
          <p:cNvPr id="6" name="">
            <a:extLst xmlns:a="http://schemas.openxmlformats.org/drawingml/2006/main">
              <a:ext uri="{FF2B5EF4-FFF2-40B4-BE49-F238E27FC236}">
                <a16:creationId xmlns:a16="http://schemas.microsoft.com/office/drawing/2014/main" id="{E34ECF94-AD28-463C-AFA5-F9BC4563BE49}"/>
              </a:ext>
            </a:extLst>
          </p:cNvPr>
          <p:cNvSpPr>
            <a:spLocks xmlns:a="http://schemas.openxmlformats.org/drawingml/2006/main" noGrp="1"/>
          </p:cNvSpPr>
          <p:nvPr/>
        </p:nvSpPr>
        <p:spPr>
          <a:xfrm xmlns:a="http://schemas.openxmlformats.org/drawingml/2006/main">
            <a:off x="8382000" y="215265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243A"/>
                </a:solidFill>
                <a:latin typeface="Arial"/>
                <a:ea typeface="Arial"/>
                <a:cs typeface="Arial"/>
              </a:defRPr>
            </a:defPPr>
            <a:lvl1pPr>
              <a:defRPr sz="1950" b="1">
                <a:solidFill>
                  <a:srgbClr val="14243A"/>
                </a:solidFill>
                <a:latin typeface="Arial"/>
                <a:ea typeface="Arial"/>
                <a:cs typeface="Arial"/>
              </a:defRPr>
            </a:lvl1pPr>
            <a:lvl2pPr>
              <a:defRPr sz="1950" b="1">
                <a:solidFill>
                  <a:srgbClr val="14243A"/>
                </a:solidFill>
                <a:latin typeface="Arial"/>
                <a:ea typeface="Arial"/>
                <a:cs typeface="Arial"/>
              </a:defRPr>
            </a:lvl2pPr>
            <a:lvl3pPr>
              <a:defRPr sz="1950" b="1">
                <a:solidFill>
                  <a:srgbClr val="14243A"/>
                </a:solidFill>
                <a:latin typeface="Arial"/>
                <a:ea typeface="Arial"/>
                <a:cs typeface="Arial"/>
              </a:defRPr>
            </a:lvl3pPr>
            <a:lvl4pPr>
              <a:defRPr sz="1950" b="1">
                <a:solidFill>
                  <a:srgbClr val="14243A"/>
                </a:solidFill>
                <a:latin typeface="Arial"/>
                <a:ea typeface="Arial"/>
                <a:cs typeface="Arial"/>
              </a:defRPr>
            </a:lvl4pPr>
            <a:lvl5pPr>
              <a:defRPr sz="1950" b="1">
                <a:solidFill>
                  <a:srgbClr val="14243A"/>
                </a:solidFill>
                <a:latin typeface="Arial"/>
                <a:ea typeface="Arial"/>
                <a:cs typeface="Arial"/>
              </a:defRPr>
            </a:lvl5pPr>
            <a:lvl6pPr>
              <a:defRPr sz="1950" b="1">
                <a:solidFill>
                  <a:srgbClr val="14243A"/>
                </a:solidFill>
                <a:latin typeface="Arial"/>
                <a:ea typeface="Arial"/>
                <a:cs typeface="Arial"/>
              </a:defRPr>
            </a:lvl6pPr>
            <a:lvl7pPr>
              <a:defRPr sz="1950" b="1">
                <a:solidFill>
                  <a:srgbClr val="14243A"/>
                </a:solidFill>
                <a:latin typeface="Arial"/>
                <a:ea typeface="Arial"/>
                <a:cs typeface="Arial"/>
              </a:defRPr>
            </a:lvl7pPr>
            <a:lvl8pPr>
              <a:defRPr sz="1950" b="1">
                <a:solidFill>
                  <a:srgbClr val="14243A"/>
                </a:solidFill>
                <a:latin typeface="Arial"/>
                <a:ea typeface="Arial"/>
                <a:cs typeface="Arial"/>
              </a:defRPr>
            </a:lvl8pPr>
            <a:lvl9pPr>
              <a:defRPr sz="1950" b="1">
                <a:solidFill>
                  <a:srgbClr val="14243A"/>
                </a:solidFill>
                <a:latin typeface="Arial"/>
                <a:ea typeface="Arial"/>
                <a:cs typeface="Arial"/>
              </a:defRPr>
            </a:lvl9pPr>
          </a:lstStyle>
          <a:p xmlns:a="http://schemas.openxmlformats.org/drawingml/2006/main">
            <a:pPr>
              <a:defRPr sz="1950" b="1">
                <a:solidFill>
                  <a:srgbClr val="14243A"/>
                </a:solidFill>
                <a:latin typeface="Arial"/>
                <a:ea typeface="Arial"/>
                <a:cs typeface="Arial"/>
              </a:defRPr>
            </a:pPr>
            <a:r>
              <a:rPr sz="1950" b="1">
                <a:solidFill>
                  <a:srgbClr val="14243A"/>
                </a:solidFill>
                <a:latin typeface="Arial"/>
                <a:ea typeface="Arial"/>
                <a:cs typeface="Arial"/>
              </a:rPr>
              <a:t>Random Forest</a:t>
            </a:r>
          </a:p>
        </p:txBody>
      </p:sp>
      <p:sp>
        <p:nvSpPr>
          <p:cNvPr id="7" name="">
            <a:extLst xmlns:a="http://schemas.openxmlformats.org/drawingml/2006/main">
              <a:ext uri="{FF2B5EF4-FFF2-40B4-BE49-F238E27FC236}">
                <a16:creationId xmlns:a16="http://schemas.microsoft.com/office/drawing/2014/main" id="{5F2DA5D2-DD69-4335-BD67-47F08F550A16}"/>
              </a:ext>
            </a:extLst>
          </p:cNvPr>
          <p:cNvSpPr>
            <a:spLocks xmlns:a="http://schemas.openxmlformats.org/drawingml/2006/main" noGrp="1"/>
          </p:cNvSpPr>
          <p:nvPr/>
        </p:nvSpPr>
        <p:spPr>
          <a:xfrm xmlns:a="http://schemas.openxmlformats.org/drawingml/2006/main">
            <a:off x="857250" y="28098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478"/>
                </a:solidFill>
                <a:latin typeface="Arial"/>
                <a:ea typeface="Arial"/>
                <a:cs typeface="Arial"/>
              </a:defRPr>
            </a:defPPr>
            <a:lvl1pPr>
              <a:defRPr sz="1575" b="0">
                <a:solidFill>
                  <a:srgbClr val="536478"/>
                </a:solidFill>
                <a:latin typeface="Arial"/>
                <a:ea typeface="Arial"/>
                <a:cs typeface="Arial"/>
              </a:defRPr>
            </a:lvl1pPr>
            <a:lvl2pPr>
              <a:defRPr sz="1575" b="0">
                <a:solidFill>
                  <a:srgbClr val="536478"/>
                </a:solidFill>
                <a:latin typeface="Arial"/>
                <a:ea typeface="Arial"/>
                <a:cs typeface="Arial"/>
              </a:defRPr>
            </a:lvl2pPr>
            <a:lvl3pPr>
              <a:defRPr sz="1575" b="0">
                <a:solidFill>
                  <a:srgbClr val="536478"/>
                </a:solidFill>
                <a:latin typeface="Arial"/>
                <a:ea typeface="Arial"/>
                <a:cs typeface="Arial"/>
              </a:defRPr>
            </a:lvl3pPr>
            <a:lvl4pPr>
              <a:defRPr sz="1575" b="0">
                <a:solidFill>
                  <a:srgbClr val="536478"/>
                </a:solidFill>
                <a:latin typeface="Arial"/>
                <a:ea typeface="Arial"/>
                <a:cs typeface="Arial"/>
              </a:defRPr>
            </a:lvl4pPr>
            <a:lvl5pPr>
              <a:defRPr sz="1575" b="0">
                <a:solidFill>
                  <a:srgbClr val="536478"/>
                </a:solidFill>
                <a:latin typeface="Arial"/>
                <a:ea typeface="Arial"/>
                <a:cs typeface="Arial"/>
              </a:defRPr>
            </a:lvl5pPr>
            <a:lvl6pPr>
              <a:defRPr sz="1575" b="0">
                <a:solidFill>
                  <a:srgbClr val="536478"/>
                </a:solidFill>
                <a:latin typeface="Arial"/>
                <a:ea typeface="Arial"/>
                <a:cs typeface="Arial"/>
              </a:defRPr>
            </a:lvl6pPr>
            <a:lvl7pPr>
              <a:defRPr sz="1575" b="0">
                <a:solidFill>
                  <a:srgbClr val="536478"/>
                </a:solidFill>
                <a:latin typeface="Arial"/>
                <a:ea typeface="Arial"/>
                <a:cs typeface="Arial"/>
              </a:defRPr>
            </a:lvl7pPr>
            <a:lvl8pPr>
              <a:defRPr sz="1575" b="0">
                <a:solidFill>
                  <a:srgbClr val="536478"/>
                </a:solidFill>
                <a:latin typeface="Arial"/>
                <a:ea typeface="Arial"/>
                <a:cs typeface="Arial"/>
              </a:defRPr>
            </a:lvl8pPr>
            <a:lvl9pPr>
              <a:defRPr sz="1575" b="0">
                <a:solidFill>
                  <a:srgbClr val="536478"/>
                </a:solidFill>
                <a:latin typeface="Arial"/>
                <a:ea typeface="Arial"/>
                <a:cs typeface="Arial"/>
              </a:defRPr>
            </a:lvl9pPr>
          </a:lstStyle>
          <a:p xmlns:a="http://schemas.openxmlformats.org/drawingml/2006/main">
            <a:pPr>
              <a:defRPr sz="1575" b="0">
                <a:solidFill>
                  <a:srgbClr val="536478"/>
                </a:solidFill>
                <a:latin typeface="Arial"/>
                <a:ea typeface="Arial"/>
                <a:cs typeface="Arial"/>
              </a:defRPr>
            </a:pPr>
            <a:r>
              <a:rPr sz="1575" b="0">
                <a:solidFill>
                  <a:srgbClr val="536478"/>
                </a:solidFill>
                <a:latin typeface="Arial"/>
                <a:ea typeface="Arial"/>
                <a:cs typeface="Arial"/>
              </a:rPr>
              <a:t>Lexical cosine</a:t>
            </a:r>
          </a:p>
        </p:txBody>
      </p:sp>
      <p:sp>
        <p:nvSpPr>
          <p:cNvPr id="8" name="">
            <a:extLst xmlns:a="http://schemas.openxmlformats.org/drawingml/2006/main">
              <a:ext uri="{FF2B5EF4-FFF2-40B4-BE49-F238E27FC236}">
                <a16:creationId xmlns:a16="http://schemas.microsoft.com/office/drawing/2014/main" id="{83769D10-785A-4ABB-88DB-F64465A10341}"/>
              </a:ext>
            </a:extLst>
          </p:cNvPr>
          <p:cNvSpPr>
            <a:spLocks xmlns:a="http://schemas.openxmlformats.org/drawingml/2006/main" noGrp="1"/>
          </p:cNvSpPr>
          <p:nvPr/>
        </p:nvSpPr>
        <p:spPr>
          <a:xfrm xmlns:a="http://schemas.openxmlformats.org/drawingml/2006/main">
            <a:off x="4619625" y="280987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478"/>
                </a:solidFill>
                <a:latin typeface="Arial"/>
                <a:ea typeface="Arial"/>
                <a:cs typeface="Arial"/>
              </a:defRPr>
            </a:defPPr>
            <a:lvl1pPr>
              <a:defRPr sz="1575" b="0">
                <a:solidFill>
                  <a:srgbClr val="536478"/>
                </a:solidFill>
                <a:latin typeface="Arial"/>
                <a:ea typeface="Arial"/>
                <a:cs typeface="Arial"/>
              </a:defRPr>
            </a:lvl1pPr>
            <a:lvl2pPr>
              <a:defRPr sz="1575" b="0">
                <a:solidFill>
                  <a:srgbClr val="536478"/>
                </a:solidFill>
                <a:latin typeface="Arial"/>
                <a:ea typeface="Arial"/>
                <a:cs typeface="Arial"/>
              </a:defRPr>
            </a:lvl2pPr>
            <a:lvl3pPr>
              <a:defRPr sz="1575" b="0">
                <a:solidFill>
                  <a:srgbClr val="536478"/>
                </a:solidFill>
                <a:latin typeface="Arial"/>
                <a:ea typeface="Arial"/>
                <a:cs typeface="Arial"/>
              </a:defRPr>
            </a:lvl3pPr>
            <a:lvl4pPr>
              <a:defRPr sz="1575" b="0">
                <a:solidFill>
                  <a:srgbClr val="536478"/>
                </a:solidFill>
                <a:latin typeface="Arial"/>
                <a:ea typeface="Arial"/>
                <a:cs typeface="Arial"/>
              </a:defRPr>
            </a:lvl4pPr>
            <a:lvl5pPr>
              <a:defRPr sz="1575" b="0">
                <a:solidFill>
                  <a:srgbClr val="536478"/>
                </a:solidFill>
                <a:latin typeface="Arial"/>
                <a:ea typeface="Arial"/>
                <a:cs typeface="Arial"/>
              </a:defRPr>
            </a:lvl5pPr>
            <a:lvl6pPr>
              <a:defRPr sz="1575" b="0">
                <a:solidFill>
                  <a:srgbClr val="536478"/>
                </a:solidFill>
                <a:latin typeface="Arial"/>
                <a:ea typeface="Arial"/>
                <a:cs typeface="Arial"/>
              </a:defRPr>
            </a:lvl6pPr>
            <a:lvl7pPr>
              <a:defRPr sz="1575" b="0">
                <a:solidFill>
                  <a:srgbClr val="536478"/>
                </a:solidFill>
                <a:latin typeface="Arial"/>
                <a:ea typeface="Arial"/>
                <a:cs typeface="Arial"/>
              </a:defRPr>
            </a:lvl7pPr>
            <a:lvl8pPr>
              <a:defRPr sz="1575" b="0">
                <a:solidFill>
                  <a:srgbClr val="536478"/>
                </a:solidFill>
                <a:latin typeface="Arial"/>
                <a:ea typeface="Arial"/>
                <a:cs typeface="Arial"/>
              </a:defRPr>
            </a:lvl8pPr>
            <a:lvl9pPr>
              <a:defRPr sz="1575" b="0">
                <a:solidFill>
                  <a:srgbClr val="536478"/>
                </a:solidFill>
                <a:latin typeface="Arial"/>
                <a:ea typeface="Arial"/>
                <a:cs typeface="Arial"/>
              </a:defRPr>
            </a:lvl9pPr>
          </a:lstStyle>
          <a:p xmlns:a="http://schemas.openxmlformats.org/drawingml/2006/main">
            <a:pPr>
              <a:defRPr sz="1575" b="0">
                <a:solidFill>
                  <a:srgbClr val="536478"/>
                </a:solidFill>
                <a:latin typeface="Arial"/>
                <a:ea typeface="Arial"/>
                <a:cs typeface="Arial"/>
              </a:defRPr>
            </a:pPr>
            <a:r>
              <a:rPr sz="1575" b="0">
                <a:solidFill>
                  <a:srgbClr val="536478"/>
                </a:solidFill>
                <a:latin typeface="Arial"/>
                <a:ea typeface="Arial"/>
                <a:cs typeface="Arial"/>
              </a:rPr>
              <a:t>Skills, tokens and length</a:t>
            </a:r>
          </a:p>
        </p:txBody>
      </p:sp>
      <p:sp>
        <p:nvSpPr>
          <p:cNvPr id="9" name="">
            <a:extLst xmlns:a="http://schemas.openxmlformats.org/drawingml/2006/main">
              <a:ext uri="{FF2B5EF4-FFF2-40B4-BE49-F238E27FC236}">
                <a16:creationId xmlns:a16="http://schemas.microsoft.com/office/drawing/2014/main" id="{868ACFF6-F62A-42C7-B6AC-630E2515FDFE}"/>
              </a:ext>
            </a:extLst>
          </p:cNvPr>
          <p:cNvSpPr>
            <a:spLocks xmlns:a="http://schemas.openxmlformats.org/drawingml/2006/main" noGrp="1"/>
          </p:cNvSpPr>
          <p:nvPr/>
        </p:nvSpPr>
        <p:spPr>
          <a:xfrm xmlns:a="http://schemas.openxmlformats.org/drawingml/2006/main">
            <a:off x="8382000" y="2809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478"/>
                </a:solidFill>
                <a:latin typeface="Arial"/>
                <a:ea typeface="Arial"/>
                <a:cs typeface="Arial"/>
              </a:defRPr>
            </a:defPPr>
            <a:lvl1pPr>
              <a:defRPr sz="1575" b="0">
                <a:solidFill>
                  <a:srgbClr val="536478"/>
                </a:solidFill>
                <a:latin typeface="Arial"/>
                <a:ea typeface="Arial"/>
                <a:cs typeface="Arial"/>
              </a:defRPr>
            </a:lvl1pPr>
            <a:lvl2pPr>
              <a:defRPr sz="1575" b="0">
                <a:solidFill>
                  <a:srgbClr val="536478"/>
                </a:solidFill>
                <a:latin typeface="Arial"/>
                <a:ea typeface="Arial"/>
                <a:cs typeface="Arial"/>
              </a:defRPr>
            </a:lvl2pPr>
            <a:lvl3pPr>
              <a:defRPr sz="1575" b="0">
                <a:solidFill>
                  <a:srgbClr val="536478"/>
                </a:solidFill>
                <a:latin typeface="Arial"/>
                <a:ea typeface="Arial"/>
                <a:cs typeface="Arial"/>
              </a:defRPr>
            </a:lvl3pPr>
            <a:lvl4pPr>
              <a:defRPr sz="1575" b="0">
                <a:solidFill>
                  <a:srgbClr val="536478"/>
                </a:solidFill>
                <a:latin typeface="Arial"/>
                <a:ea typeface="Arial"/>
                <a:cs typeface="Arial"/>
              </a:defRPr>
            </a:lvl4pPr>
            <a:lvl5pPr>
              <a:defRPr sz="1575" b="0">
                <a:solidFill>
                  <a:srgbClr val="536478"/>
                </a:solidFill>
                <a:latin typeface="Arial"/>
                <a:ea typeface="Arial"/>
                <a:cs typeface="Arial"/>
              </a:defRPr>
            </a:lvl5pPr>
            <a:lvl6pPr>
              <a:defRPr sz="1575" b="0">
                <a:solidFill>
                  <a:srgbClr val="536478"/>
                </a:solidFill>
                <a:latin typeface="Arial"/>
                <a:ea typeface="Arial"/>
                <a:cs typeface="Arial"/>
              </a:defRPr>
            </a:lvl6pPr>
            <a:lvl7pPr>
              <a:defRPr sz="1575" b="0">
                <a:solidFill>
                  <a:srgbClr val="536478"/>
                </a:solidFill>
                <a:latin typeface="Arial"/>
                <a:ea typeface="Arial"/>
                <a:cs typeface="Arial"/>
              </a:defRPr>
            </a:lvl7pPr>
            <a:lvl8pPr>
              <a:defRPr sz="1575" b="0">
                <a:solidFill>
                  <a:srgbClr val="536478"/>
                </a:solidFill>
                <a:latin typeface="Arial"/>
                <a:ea typeface="Arial"/>
                <a:cs typeface="Arial"/>
              </a:defRPr>
            </a:lvl8pPr>
            <a:lvl9pPr>
              <a:defRPr sz="1575" b="0">
                <a:solidFill>
                  <a:srgbClr val="536478"/>
                </a:solidFill>
                <a:latin typeface="Arial"/>
                <a:ea typeface="Arial"/>
                <a:cs typeface="Arial"/>
              </a:defRPr>
            </a:lvl9pPr>
          </a:lstStyle>
          <a:p xmlns:a="http://schemas.openxmlformats.org/drawingml/2006/main">
            <a:pPr>
              <a:defRPr sz="1575" b="0">
                <a:solidFill>
                  <a:srgbClr val="536478"/>
                </a:solidFill>
                <a:latin typeface="Arial"/>
                <a:ea typeface="Arial"/>
                <a:cs typeface="Arial"/>
              </a:defRPr>
            </a:pPr>
            <a:r>
              <a:rPr sz="1575" b="0">
                <a:solidFill>
                  <a:srgbClr val="536478"/>
                </a:solidFill>
                <a:latin typeface="Arial"/>
                <a:ea typeface="Arial"/>
                <a:cs typeface="Arial"/>
              </a:rPr>
              <a:t>250 trees</a:t>
            </a:r>
          </a:p>
        </p:txBody>
      </p:sp>
      <p:sp>
        <p:nvSpPr>
          <p:cNvPr id="10" name="">
            <a:extLst xmlns:a="http://schemas.openxmlformats.org/drawingml/2006/main">
              <a:ext uri="{FF2B5EF4-FFF2-40B4-BE49-F238E27FC236}">
                <a16:creationId xmlns:a16="http://schemas.microsoft.com/office/drawing/2014/main" id="{771A84A6-5CF0-4D70-B273-25FABB7ABE23}"/>
              </a:ext>
            </a:extLst>
          </p:cNvPr>
          <p:cNvSpPr>
            <a:spLocks xmlns:a="http://schemas.openxmlformats.org/drawingml/2006/main" noGrp="1"/>
          </p:cNvSpPr>
          <p:nvPr/>
        </p:nvSpPr>
        <p:spPr>
          <a:xfrm xmlns:a="http://schemas.openxmlformats.org/drawingml/2006/main">
            <a:off x="647700" y="36290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7F76"/>
                </a:solidFill>
                <a:latin typeface="Arial"/>
                <a:ea typeface="Arial"/>
                <a:cs typeface="Arial"/>
              </a:defRPr>
            </a:defPPr>
            <a:lvl1pPr>
              <a:defRPr sz="2025" b="1">
                <a:solidFill>
                  <a:srgbClr val="127F76"/>
                </a:solidFill>
                <a:latin typeface="Arial"/>
                <a:ea typeface="Arial"/>
                <a:cs typeface="Arial"/>
              </a:defRPr>
            </a:lvl1pPr>
            <a:lvl2pPr>
              <a:defRPr sz="2025" b="1">
                <a:solidFill>
                  <a:srgbClr val="127F76"/>
                </a:solidFill>
                <a:latin typeface="Arial"/>
                <a:ea typeface="Arial"/>
                <a:cs typeface="Arial"/>
              </a:defRPr>
            </a:lvl2pPr>
            <a:lvl3pPr>
              <a:defRPr sz="2025" b="1">
                <a:solidFill>
                  <a:srgbClr val="127F76"/>
                </a:solidFill>
                <a:latin typeface="Arial"/>
                <a:ea typeface="Arial"/>
                <a:cs typeface="Arial"/>
              </a:defRPr>
            </a:lvl3pPr>
            <a:lvl4pPr>
              <a:defRPr sz="2025" b="1">
                <a:solidFill>
                  <a:srgbClr val="127F76"/>
                </a:solidFill>
                <a:latin typeface="Arial"/>
                <a:ea typeface="Arial"/>
                <a:cs typeface="Arial"/>
              </a:defRPr>
            </a:lvl4pPr>
            <a:lvl5pPr>
              <a:defRPr sz="2025" b="1">
                <a:solidFill>
                  <a:srgbClr val="127F76"/>
                </a:solidFill>
                <a:latin typeface="Arial"/>
                <a:ea typeface="Arial"/>
                <a:cs typeface="Arial"/>
              </a:defRPr>
            </a:lvl5pPr>
            <a:lvl6pPr>
              <a:defRPr sz="2025" b="1">
                <a:solidFill>
                  <a:srgbClr val="127F76"/>
                </a:solidFill>
                <a:latin typeface="Arial"/>
                <a:ea typeface="Arial"/>
                <a:cs typeface="Arial"/>
              </a:defRPr>
            </a:lvl6pPr>
            <a:lvl7pPr>
              <a:defRPr sz="2025" b="1">
                <a:solidFill>
                  <a:srgbClr val="127F76"/>
                </a:solidFill>
                <a:latin typeface="Arial"/>
                <a:ea typeface="Arial"/>
                <a:cs typeface="Arial"/>
              </a:defRPr>
            </a:lvl7pPr>
            <a:lvl8pPr>
              <a:defRPr sz="2025" b="1">
                <a:solidFill>
                  <a:srgbClr val="127F76"/>
                </a:solidFill>
                <a:latin typeface="Arial"/>
                <a:ea typeface="Arial"/>
                <a:cs typeface="Arial"/>
              </a:defRPr>
            </a:lvl8pPr>
            <a:lvl9pPr>
              <a:defRPr sz="2025" b="1">
                <a:solidFill>
                  <a:srgbClr val="127F76"/>
                </a:solidFill>
                <a:latin typeface="Arial"/>
                <a:ea typeface="Arial"/>
                <a:cs typeface="Arial"/>
              </a:defRPr>
            </a:lvl9pPr>
          </a:lstStyle>
          <a:p xmlns:a="http://schemas.openxmlformats.org/drawingml/2006/main">
            <a:pPr>
              <a:defRPr sz="2025" b="1">
                <a:solidFill>
                  <a:srgbClr val="127F76"/>
                </a:solidFill>
                <a:latin typeface="Arial"/>
                <a:ea typeface="Arial"/>
                <a:cs typeface="Arial"/>
              </a:defRPr>
            </a:pPr>
            <a:r>
              <a:rPr sz="2025" b="1">
                <a:solidFill>
                  <a:srgbClr val="127F76"/>
                </a:solidFill>
                <a:latin typeface="Arial"/>
                <a:ea typeface="Arial"/>
                <a:cs typeface="Arial"/>
              </a:rPr>
              <a:t>Advanced</a:t>
            </a:r>
          </a:p>
        </p:txBody>
      </p:sp>
      <p:sp>
        <p:nvSpPr>
          <p:cNvPr id="11" name="">
            <a:extLst xmlns:a="http://schemas.openxmlformats.org/drawingml/2006/main">
              <a:ext uri="{FF2B5EF4-FFF2-40B4-BE49-F238E27FC236}">
                <a16:creationId xmlns:a16="http://schemas.microsoft.com/office/drawing/2014/main" id="{F4CFE0C1-CE66-4F74-8239-42DB956C2BFD}"/>
              </a:ext>
            </a:extLst>
          </p:cNvPr>
          <p:cNvSpPr>
            <a:spLocks xmlns:a="http://schemas.openxmlformats.org/drawingml/2006/main" noGrp="1"/>
          </p:cNvSpPr>
          <p:nvPr/>
        </p:nvSpPr>
        <p:spPr>
          <a:xfrm xmlns:a="http://schemas.openxmlformats.org/drawingml/2006/main">
            <a:off x="857250" y="430530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243A"/>
                </a:solidFill>
                <a:latin typeface="Arial"/>
                <a:ea typeface="Arial"/>
                <a:cs typeface="Arial"/>
              </a:defRPr>
            </a:defPPr>
            <a:lvl1pPr>
              <a:defRPr sz="1950" b="1">
                <a:solidFill>
                  <a:srgbClr val="14243A"/>
                </a:solidFill>
                <a:latin typeface="Arial"/>
                <a:ea typeface="Arial"/>
                <a:cs typeface="Arial"/>
              </a:defRPr>
            </a:lvl1pPr>
            <a:lvl2pPr>
              <a:defRPr sz="1950" b="1">
                <a:solidFill>
                  <a:srgbClr val="14243A"/>
                </a:solidFill>
                <a:latin typeface="Arial"/>
                <a:ea typeface="Arial"/>
                <a:cs typeface="Arial"/>
              </a:defRPr>
            </a:lvl2pPr>
            <a:lvl3pPr>
              <a:defRPr sz="1950" b="1">
                <a:solidFill>
                  <a:srgbClr val="14243A"/>
                </a:solidFill>
                <a:latin typeface="Arial"/>
                <a:ea typeface="Arial"/>
                <a:cs typeface="Arial"/>
              </a:defRPr>
            </a:lvl3pPr>
            <a:lvl4pPr>
              <a:defRPr sz="1950" b="1">
                <a:solidFill>
                  <a:srgbClr val="14243A"/>
                </a:solidFill>
                <a:latin typeface="Arial"/>
                <a:ea typeface="Arial"/>
                <a:cs typeface="Arial"/>
              </a:defRPr>
            </a:lvl4pPr>
            <a:lvl5pPr>
              <a:defRPr sz="1950" b="1">
                <a:solidFill>
                  <a:srgbClr val="14243A"/>
                </a:solidFill>
                <a:latin typeface="Arial"/>
                <a:ea typeface="Arial"/>
                <a:cs typeface="Arial"/>
              </a:defRPr>
            </a:lvl5pPr>
            <a:lvl6pPr>
              <a:defRPr sz="1950" b="1">
                <a:solidFill>
                  <a:srgbClr val="14243A"/>
                </a:solidFill>
                <a:latin typeface="Arial"/>
                <a:ea typeface="Arial"/>
                <a:cs typeface="Arial"/>
              </a:defRPr>
            </a:lvl6pPr>
            <a:lvl7pPr>
              <a:defRPr sz="1950" b="1">
                <a:solidFill>
                  <a:srgbClr val="14243A"/>
                </a:solidFill>
                <a:latin typeface="Arial"/>
                <a:ea typeface="Arial"/>
                <a:cs typeface="Arial"/>
              </a:defRPr>
            </a:lvl7pPr>
            <a:lvl8pPr>
              <a:defRPr sz="1950" b="1">
                <a:solidFill>
                  <a:srgbClr val="14243A"/>
                </a:solidFill>
                <a:latin typeface="Arial"/>
                <a:ea typeface="Arial"/>
                <a:cs typeface="Arial"/>
              </a:defRPr>
            </a:lvl8pPr>
            <a:lvl9pPr>
              <a:defRPr sz="1950" b="1">
                <a:solidFill>
                  <a:srgbClr val="14243A"/>
                </a:solidFill>
                <a:latin typeface="Arial"/>
                <a:ea typeface="Arial"/>
                <a:cs typeface="Arial"/>
              </a:defRPr>
            </a:lvl9pPr>
          </a:lstStyle>
          <a:p xmlns:a="http://schemas.openxmlformats.org/drawingml/2006/main">
            <a:pPr>
              <a:defRPr sz="1950" b="1">
                <a:solidFill>
                  <a:srgbClr val="14243A"/>
                </a:solidFill>
                <a:latin typeface="Arial"/>
                <a:ea typeface="Arial"/>
                <a:cs typeface="Arial"/>
              </a:defRPr>
            </a:pPr>
            <a:r>
              <a:rPr sz="1950" b="1">
                <a:solidFill>
                  <a:srgbClr val="14243A"/>
                </a:solidFill>
                <a:latin typeface="Arial"/>
                <a:ea typeface="Arial"/>
                <a:cs typeface="Arial"/>
              </a:rPr>
              <a:t>Chunked Sentence-BERT</a:t>
            </a:r>
          </a:p>
        </p:txBody>
      </p:sp>
      <p:sp>
        <p:nvSpPr>
          <p:cNvPr id="12" name="">
            <a:extLst xmlns:a="http://schemas.openxmlformats.org/drawingml/2006/main">
              <a:ext uri="{FF2B5EF4-FFF2-40B4-BE49-F238E27FC236}">
                <a16:creationId xmlns:a16="http://schemas.microsoft.com/office/drawing/2014/main" id="{A30CE270-766B-4938-80F9-35A4053CA03C}"/>
              </a:ext>
            </a:extLst>
          </p:cNvPr>
          <p:cNvSpPr>
            <a:spLocks xmlns:a="http://schemas.openxmlformats.org/drawingml/2006/main" noGrp="1"/>
          </p:cNvSpPr>
          <p:nvPr/>
        </p:nvSpPr>
        <p:spPr>
          <a:xfrm xmlns:a="http://schemas.openxmlformats.org/drawingml/2006/main">
            <a:off x="4619625" y="43053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243A"/>
                </a:solidFill>
                <a:latin typeface="Arial"/>
                <a:ea typeface="Arial"/>
                <a:cs typeface="Arial"/>
              </a:defRPr>
            </a:defPPr>
            <a:lvl1pPr>
              <a:defRPr sz="1950" b="1">
                <a:solidFill>
                  <a:srgbClr val="14243A"/>
                </a:solidFill>
                <a:latin typeface="Arial"/>
                <a:ea typeface="Arial"/>
                <a:cs typeface="Arial"/>
              </a:defRPr>
            </a:lvl1pPr>
            <a:lvl2pPr>
              <a:defRPr sz="1950" b="1">
                <a:solidFill>
                  <a:srgbClr val="14243A"/>
                </a:solidFill>
                <a:latin typeface="Arial"/>
                <a:ea typeface="Arial"/>
                <a:cs typeface="Arial"/>
              </a:defRPr>
            </a:lvl2pPr>
            <a:lvl3pPr>
              <a:defRPr sz="1950" b="1">
                <a:solidFill>
                  <a:srgbClr val="14243A"/>
                </a:solidFill>
                <a:latin typeface="Arial"/>
                <a:ea typeface="Arial"/>
                <a:cs typeface="Arial"/>
              </a:defRPr>
            </a:lvl3pPr>
            <a:lvl4pPr>
              <a:defRPr sz="1950" b="1">
                <a:solidFill>
                  <a:srgbClr val="14243A"/>
                </a:solidFill>
                <a:latin typeface="Arial"/>
                <a:ea typeface="Arial"/>
                <a:cs typeface="Arial"/>
              </a:defRPr>
            </a:lvl4pPr>
            <a:lvl5pPr>
              <a:defRPr sz="1950" b="1">
                <a:solidFill>
                  <a:srgbClr val="14243A"/>
                </a:solidFill>
                <a:latin typeface="Arial"/>
                <a:ea typeface="Arial"/>
                <a:cs typeface="Arial"/>
              </a:defRPr>
            </a:lvl5pPr>
            <a:lvl6pPr>
              <a:defRPr sz="1950" b="1">
                <a:solidFill>
                  <a:srgbClr val="14243A"/>
                </a:solidFill>
                <a:latin typeface="Arial"/>
                <a:ea typeface="Arial"/>
                <a:cs typeface="Arial"/>
              </a:defRPr>
            </a:lvl6pPr>
            <a:lvl7pPr>
              <a:defRPr sz="1950" b="1">
                <a:solidFill>
                  <a:srgbClr val="14243A"/>
                </a:solidFill>
                <a:latin typeface="Arial"/>
                <a:ea typeface="Arial"/>
                <a:cs typeface="Arial"/>
              </a:defRPr>
            </a:lvl7pPr>
            <a:lvl8pPr>
              <a:defRPr sz="1950" b="1">
                <a:solidFill>
                  <a:srgbClr val="14243A"/>
                </a:solidFill>
                <a:latin typeface="Arial"/>
                <a:ea typeface="Arial"/>
                <a:cs typeface="Arial"/>
              </a:defRPr>
            </a:lvl8pPr>
            <a:lvl9pPr>
              <a:defRPr sz="1950" b="1">
                <a:solidFill>
                  <a:srgbClr val="14243A"/>
                </a:solidFill>
                <a:latin typeface="Arial"/>
                <a:ea typeface="Arial"/>
                <a:cs typeface="Arial"/>
              </a:defRPr>
            </a:lvl9pPr>
          </a:lstStyle>
          <a:p xmlns:a="http://schemas.openxmlformats.org/drawingml/2006/main">
            <a:pPr>
              <a:defRPr sz="1950" b="1">
                <a:solidFill>
                  <a:srgbClr val="14243A"/>
                </a:solidFill>
                <a:latin typeface="Arial"/>
                <a:ea typeface="Arial"/>
                <a:cs typeface="Arial"/>
              </a:defRPr>
            </a:pPr>
            <a:r>
              <a:rPr sz="1950" b="1">
                <a:solidFill>
                  <a:srgbClr val="14243A"/>
                </a:solidFill>
                <a:latin typeface="Arial"/>
                <a:ea typeface="Arial"/>
                <a:cs typeface="Arial"/>
              </a:rPr>
              <a:t>1,545 paired features</a:t>
            </a:r>
          </a:p>
        </p:txBody>
      </p:sp>
      <p:sp>
        <p:nvSpPr>
          <p:cNvPr id="13" name="">
            <a:extLst xmlns:a="http://schemas.openxmlformats.org/drawingml/2006/main">
              <a:ext uri="{FF2B5EF4-FFF2-40B4-BE49-F238E27FC236}">
                <a16:creationId xmlns:a16="http://schemas.microsoft.com/office/drawing/2014/main" id="{477A0571-E341-4A73-9AFD-FF46259206D8}"/>
              </a:ext>
            </a:extLst>
          </p:cNvPr>
          <p:cNvSpPr>
            <a:spLocks xmlns:a="http://schemas.openxmlformats.org/drawingml/2006/main" noGrp="1"/>
          </p:cNvSpPr>
          <p:nvPr/>
        </p:nvSpPr>
        <p:spPr>
          <a:xfrm xmlns:a="http://schemas.openxmlformats.org/drawingml/2006/main">
            <a:off x="8382000" y="430530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243A"/>
                </a:solidFill>
                <a:latin typeface="Arial"/>
                <a:ea typeface="Arial"/>
                <a:cs typeface="Arial"/>
              </a:defRPr>
            </a:defPPr>
            <a:lvl1pPr>
              <a:defRPr sz="1950" b="1">
                <a:solidFill>
                  <a:srgbClr val="14243A"/>
                </a:solidFill>
                <a:latin typeface="Arial"/>
                <a:ea typeface="Arial"/>
                <a:cs typeface="Arial"/>
              </a:defRPr>
            </a:lvl1pPr>
            <a:lvl2pPr>
              <a:defRPr sz="1950" b="1">
                <a:solidFill>
                  <a:srgbClr val="14243A"/>
                </a:solidFill>
                <a:latin typeface="Arial"/>
                <a:ea typeface="Arial"/>
                <a:cs typeface="Arial"/>
              </a:defRPr>
            </a:lvl2pPr>
            <a:lvl3pPr>
              <a:defRPr sz="1950" b="1">
                <a:solidFill>
                  <a:srgbClr val="14243A"/>
                </a:solidFill>
                <a:latin typeface="Arial"/>
                <a:ea typeface="Arial"/>
                <a:cs typeface="Arial"/>
              </a:defRPr>
            </a:lvl3pPr>
            <a:lvl4pPr>
              <a:defRPr sz="1950" b="1">
                <a:solidFill>
                  <a:srgbClr val="14243A"/>
                </a:solidFill>
                <a:latin typeface="Arial"/>
                <a:ea typeface="Arial"/>
                <a:cs typeface="Arial"/>
              </a:defRPr>
            </a:lvl4pPr>
            <a:lvl5pPr>
              <a:defRPr sz="1950" b="1">
                <a:solidFill>
                  <a:srgbClr val="14243A"/>
                </a:solidFill>
                <a:latin typeface="Arial"/>
                <a:ea typeface="Arial"/>
                <a:cs typeface="Arial"/>
              </a:defRPr>
            </a:lvl5pPr>
            <a:lvl6pPr>
              <a:defRPr sz="1950" b="1">
                <a:solidFill>
                  <a:srgbClr val="14243A"/>
                </a:solidFill>
                <a:latin typeface="Arial"/>
                <a:ea typeface="Arial"/>
                <a:cs typeface="Arial"/>
              </a:defRPr>
            </a:lvl6pPr>
            <a:lvl7pPr>
              <a:defRPr sz="1950" b="1">
                <a:solidFill>
                  <a:srgbClr val="14243A"/>
                </a:solidFill>
                <a:latin typeface="Arial"/>
                <a:ea typeface="Arial"/>
                <a:cs typeface="Arial"/>
              </a:defRPr>
            </a:lvl7pPr>
            <a:lvl8pPr>
              <a:defRPr sz="1950" b="1">
                <a:solidFill>
                  <a:srgbClr val="14243A"/>
                </a:solidFill>
                <a:latin typeface="Arial"/>
                <a:ea typeface="Arial"/>
                <a:cs typeface="Arial"/>
              </a:defRPr>
            </a:lvl8pPr>
            <a:lvl9pPr>
              <a:defRPr sz="1950" b="1">
                <a:solidFill>
                  <a:srgbClr val="14243A"/>
                </a:solidFill>
                <a:latin typeface="Arial"/>
                <a:ea typeface="Arial"/>
                <a:cs typeface="Arial"/>
              </a:defRPr>
            </a:lvl9pPr>
          </a:lstStyle>
          <a:p xmlns:a="http://schemas.openxmlformats.org/drawingml/2006/main">
            <a:pPr>
              <a:defRPr sz="1950" b="1">
                <a:solidFill>
                  <a:srgbClr val="14243A"/>
                </a:solidFill>
                <a:latin typeface="Arial"/>
                <a:ea typeface="Arial"/>
                <a:cs typeface="Arial"/>
              </a:defRPr>
            </a:pPr>
            <a:r>
              <a:rPr sz="1950" b="1">
                <a:solidFill>
                  <a:srgbClr val="14243A"/>
                </a:solidFill>
                <a:latin typeface="Arial"/>
                <a:ea typeface="Arial"/>
                <a:cs typeface="Arial"/>
              </a:rPr>
              <a:t>logistic C1</a:t>
            </a:r>
          </a:p>
        </p:txBody>
      </p:sp>
      <p:sp>
        <p:nvSpPr>
          <p:cNvPr id="14" name="">
            <a:extLst xmlns:a="http://schemas.openxmlformats.org/drawingml/2006/main">
              <a:ext uri="{FF2B5EF4-FFF2-40B4-BE49-F238E27FC236}">
                <a16:creationId xmlns:a16="http://schemas.microsoft.com/office/drawing/2014/main" id="{7009E390-0E50-41C6-AF4E-5228A35E7172}"/>
              </a:ext>
            </a:extLst>
          </p:cNvPr>
          <p:cNvSpPr>
            <a:spLocks xmlns:a="http://schemas.openxmlformats.org/drawingml/2006/main" noGrp="1"/>
          </p:cNvSpPr>
          <p:nvPr/>
        </p:nvSpPr>
        <p:spPr>
          <a:xfrm xmlns:a="http://schemas.openxmlformats.org/drawingml/2006/main">
            <a:off x="857250" y="505777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478"/>
                </a:solidFill>
                <a:latin typeface="Arial"/>
                <a:ea typeface="Arial"/>
                <a:cs typeface="Arial"/>
              </a:defRPr>
            </a:defPPr>
            <a:lvl1pPr>
              <a:defRPr sz="1575" b="0">
                <a:solidFill>
                  <a:srgbClr val="536478"/>
                </a:solidFill>
                <a:latin typeface="Arial"/>
                <a:ea typeface="Arial"/>
                <a:cs typeface="Arial"/>
              </a:defRPr>
            </a:lvl1pPr>
            <a:lvl2pPr>
              <a:defRPr sz="1575" b="0">
                <a:solidFill>
                  <a:srgbClr val="536478"/>
                </a:solidFill>
                <a:latin typeface="Arial"/>
                <a:ea typeface="Arial"/>
                <a:cs typeface="Arial"/>
              </a:defRPr>
            </a:lvl2pPr>
            <a:lvl3pPr>
              <a:defRPr sz="1575" b="0">
                <a:solidFill>
                  <a:srgbClr val="536478"/>
                </a:solidFill>
                <a:latin typeface="Arial"/>
                <a:ea typeface="Arial"/>
                <a:cs typeface="Arial"/>
              </a:defRPr>
            </a:lvl3pPr>
            <a:lvl4pPr>
              <a:defRPr sz="1575" b="0">
                <a:solidFill>
                  <a:srgbClr val="536478"/>
                </a:solidFill>
                <a:latin typeface="Arial"/>
                <a:ea typeface="Arial"/>
                <a:cs typeface="Arial"/>
              </a:defRPr>
            </a:lvl4pPr>
            <a:lvl5pPr>
              <a:defRPr sz="1575" b="0">
                <a:solidFill>
                  <a:srgbClr val="536478"/>
                </a:solidFill>
                <a:latin typeface="Arial"/>
                <a:ea typeface="Arial"/>
                <a:cs typeface="Arial"/>
              </a:defRPr>
            </a:lvl5pPr>
            <a:lvl6pPr>
              <a:defRPr sz="1575" b="0">
                <a:solidFill>
                  <a:srgbClr val="536478"/>
                </a:solidFill>
                <a:latin typeface="Arial"/>
                <a:ea typeface="Arial"/>
                <a:cs typeface="Arial"/>
              </a:defRPr>
            </a:lvl6pPr>
            <a:lvl7pPr>
              <a:defRPr sz="1575" b="0">
                <a:solidFill>
                  <a:srgbClr val="536478"/>
                </a:solidFill>
                <a:latin typeface="Arial"/>
                <a:ea typeface="Arial"/>
                <a:cs typeface="Arial"/>
              </a:defRPr>
            </a:lvl7pPr>
            <a:lvl8pPr>
              <a:defRPr sz="1575" b="0">
                <a:solidFill>
                  <a:srgbClr val="536478"/>
                </a:solidFill>
                <a:latin typeface="Arial"/>
                <a:ea typeface="Arial"/>
                <a:cs typeface="Arial"/>
              </a:defRPr>
            </a:lvl8pPr>
            <a:lvl9pPr>
              <a:defRPr sz="1575" b="0">
                <a:solidFill>
                  <a:srgbClr val="536478"/>
                </a:solidFill>
                <a:latin typeface="Arial"/>
                <a:ea typeface="Arial"/>
                <a:cs typeface="Arial"/>
              </a:defRPr>
            </a:lvl9pPr>
          </a:lstStyle>
          <a:p xmlns:a="http://schemas.openxmlformats.org/drawingml/2006/main">
            <a:pPr>
              <a:defRPr sz="1575" b="0">
                <a:solidFill>
                  <a:srgbClr val="536478"/>
                </a:solidFill>
                <a:latin typeface="Arial"/>
                <a:ea typeface="Arial"/>
                <a:cs typeface="Arial"/>
              </a:defRPr>
            </a:pPr>
            <a:r>
              <a:rPr sz="1575" b="0">
                <a:solidFill>
                  <a:srgbClr val="536478"/>
                </a:solidFill>
                <a:latin typeface="Arial"/>
                <a:ea typeface="Arial"/>
                <a:cs typeface="Arial"/>
              </a:rPr>
              <a:t>Frozen 384-D encoder</a:t>
            </a:r>
          </a:p>
        </p:txBody>
      </p:sp>
      <p:sp>
        <p:nvSpPr>
          <p:cNvPr id="15" name="">
            <a:extLst xmlns:a="http://schemas.openxmlformats.org/drawingml/2006/main">
              <a:ext uri="{FF2B5EF4-FFF2-40B4-BE49-F238E27FC236}">
                <a16:creationId xmlns:a16="http://schemas.microsoft.com/office/drawing/2014/main" id="{EC3C7982-618C-4AE1-BFBF-6974827B1928}"/>
              </a:ext>
            </a:extLst>
          </p:cNvPr>
          <p:cNvSpPr>
            <a:spLocks xmlns:a="http://schemas.openxmlformats.org/drawingml/2006/main" noGrp="1"/>
          </p:cNvSpPr>
          <p:nvPr/>
        </p:nvSpPr>
        <p:spPr>
          <a:xfrm xmlns:a="http://schemas.openxmlformats.org/drawingml/2006/main">
            <a:off x="4619625" y="50577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478"/>
                </a:solidFill>
                <a:latin typeface="Arial"/>
                <a:ea typeface="Arial"/>
                <a:cs typeface="Arial"/>
              </a:defRPr>
            </a:defPPr>
            <a:lvl1pPr>
              <a:defRPr sz="1575" b="0">
                <a:solidFill>
                  <a:srgbClr val="536478"/>
                </a:solidFill>
                <a:latin typeface="Arial"/>
                <a:ea typeface="Arial"/>
                <a:cs typeface="Arial"/>
              </a:defRPr>
            </a:lvl1pPr>
            <a:lvl2pPr>
              <a:defRPr sz="1575" b="0">
                <a:solidFill>
                  <a:srgbClr val="536478"/>
                </a:solidFill>
                <a:latin typeface="Arial"/>
                <a:ea typeface="Arial"/>
                <a:cs typeface="Arial"/>
              </a:defRPr>
            </a:lvl2pPr>
            <a:lvl3pPr>
              <a:defRPr sz="1575" b="0">
                <a:solidFill>
                  <a:srgbClr val="536478"/>
                </a:solidFill>
                <a:latin typeface="Arial"/>
                <a:ea typeface="Arial"/>
                <a:cs typeface="Arial"/>
              </a:defRPr>
            </a:lvl3pPr>
            <a:lvl4pPr>
              <a:defRPr sz="1575" b="0">
                <a:solidFill>
                  <a:srgbClr val="536478"/>
                </a:solidFill>
                <a:latin typeface="Arial"/>
                <a:ea typeface="Arial"/>
                <a:cs typeface="Arial"/>
              </a:defRPr>
            </a:lvl4pPr>
            <a:lvl5pPr>
              <a:defRPr sz="1575" b="0">
                <a:solidFill>
                  <a:srgbClr val="536478"/>
                </a:solidFill>
                <a:latin typeface="Arial"/>
                <a:ea typeface="Arial"/>
                <a:cs typeface="Arial"/>
              </a:defRPr>
            </a:lvl5pPr>
            <a:lvl6pPr>
              <a:defRPr sz="1575" b="0">
                <a:solidFill>
                  <a:srgbClr val="536478"/>
                </a:solidFill>
                <a:latin typeface="Arial"/>
                <a:ea typeface="Arial"/>
                <a:cs typeface="Arial"/>
              </a:defRPr>
            </a:lvl6pPr>
            <a:lvl7pPr>
              <a:defRPr sz="1575" b="0">
                <a:solidFill>
                  <a:srgbClr val="536478"/>
                </a:solidFill>
                <a:latin typeface="Arial"/>
                <a:ea typeface="Arial"/>
                <a:cs typeface="Arial"/>
              </a:defRPr>
            </a:lvl7pPr>
            <a:lvl8pPr>
              <a:defRPr sz="1575" b="0">
                <a:solidFill>
                  <a:srgbClr val="536478"/>
                </a:solidFill>
                <a:latin typeface="Arial"/>
                <a:ea typeface="Arial"/>
                <a:cs typeface="Arial"/>
              </a:defRPr>
            </a:lvl8pPr>
            <a:lvl9pPr>
              <a:defRPr sz="1575" b="0">
                <a:solidFill>
                  <a:srgbClr val="536478"/>
                </a:solidFill>
                <a:latin typeface="Arial"/>
                <a:ea typeface="Arial"/>
                <a:cs typeface="Arial"/>
              </a:defRPr>
            </a:lvl9pPr>
          </a:lstStyle>
          <a:p xmlns:a="http://schemas.openxmlformats.org/drawingml/2006/main">
            <a:pPr>
              <a:defRPr sz="1575" b="0">
                <a:solidFill>
                  <a:srgbClr val="536478"/>
                </a:solidFill>
                <a:latin typeface="Arial"/>
                <a:ea typeface="Arial"/>
                <a:cs typeface="Arial"/>
              </a:defRPr>
            </a:pPr>
            <a:r>
              <a:rPr sz="1575" b="0">
                <a:solidFill>
                  <a:srgbClr val="536478"/>
                </a:solidFill>
                <a:latin typeface="Arial"/>
                <a:ea typeface="Arial"/>
                <a:cs typeface="Arial"/>
              </a:rPr>
              <a:t>Vectors, interactions and skills</a:t>
            </a:r>
          </a:p>
        </p:txBody>
      </p:sp>
      <p:sp>
        <p:nvSpPr>
          <p:cNvPr id="16" name="">
            <a:extLst xmlns:a="http://schemas.openxmlformats.org/drawingml/2006/main">
              <a:ext uri="{FF2B5EF4-FFF2-40B4-BE49-F238E27FC236}">
                <a16:creationId xmlns:a16="http://schemas.microsoft.com/office/drawing/2014/main" id="{FBD771D4-BF98-4766-A624-0D6081621B07}"/>
              </a:ext>
            </a:extLst>
          </p:cNvPr>
          <p:cNvSpPr>
            <a:spLocks xmlns:a="http://schemas.openxmlformats.org/drawingml/2006/main" noGrp="1"/>
          </p:cNvSpPr>
          <p:nvPr/>
        </p:nvSpPr>
        <p:spPr>
          <a:xfrm xmlns:a="http://schemas.openxmlformats.org/drawingml/2006/main">
            <a:off x="8382000" y="522922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478"/>
                </a:solidFill>
                <a:latin typeface="Arial"/>
                <a:ea typeface="Arial"/>
                <a:cs typeface="Arial"/>
              </a:defRPr>
            </a:defPPr>
            <a:lvl1pPr>
              <a:defRPr sz="1575" b="0">
                <a:solidFill>
                  <a:srgbClr val="536478"/>
                </a:solidFill>
                <a:latin typeface="Arial"/>
                <a:ea typeface="Arial"/>
                <a:cs typeface="Arial"/>
              </a:defRPr>
            </a:lvl1pPr>
            <a:lvl2pPr>
              <a:defRPr sz="1575" b="0">
                <a:solidFill>
                  <a:srgbClr val="536478"/>
                </a:solidFill>
                <a:latin typeface="Arial"/>
                <a:ea typeface="Arial"/>
                <a:cs typeface="Arial"/>
              </a:defRPr>
            </a:lvl2pPr>
            <a:lvl3pPr>
              <a:defRPr sz="1575" b="0">
                <a:solidFill>
                  <a:srgbClr val="536478"/>
                </a:solidFill>
                <a:latin typeface="Arial"/>
                <a:ea typeface="Arial"/>
                <a:cs typeface="Arial"/>
              </a:defRPr>
            </a:lvl3pPr>
            <a:lvl4pPr>
              <a:defRPr sz="1575" b="0">
                <a:solidFill>
                  <a:srgbClr val="536478"/>
                </a:solidFill>
                <a:latin typeface="Arial"/>
                <a:ea typeface="Arial"/>
                <a:cs typeface="Arial"/>
              </a:defRPr>
            </a:lvl4pPr>
            <a:lvl5pPr>
              <a:defRPr sz="1575" b="0">
                <a:solidFill>
                  <a:srgbClr val="536478"/>
                </a:solidFill>
                <a:latin typeface="Arial"/>
                <a:ea typeface="Arial"/>
                <a:cs typeface="Arial"/>
              </a:defRPr>
            </a:lvl5pPr>
            <a:lvl6pPr>
              <a:defRPr sz="1575" b="0">
                <a:solidFill>
                  <a:srgbClr val="536478"/>
                </a:solidFill>
                <a:latin typeface="Arial"/>
                <a:ea typeface="Arial"/>
                <a:cs typeface="Arial"/>
              </a:defRPr>
            </a:lvl6pPr>
            <a:lvl7pPr>
              <a:defRPr sz="1575" b="0">
                <a:solidFill>
                  <a:srgbClr val="536478"/>
                </a:solidFill>
                <a:latin typeface="Arial"/>
                <a:ea typeface="Arial"/>
                <a:cs typeface="Arial"/>
              </a:defRPr>
            </a:lvl7pPr>
            <a:lvl8pPr>
              <a:defRPr sz="1575" b="0">
                <a:solidFill>
                  <a:srgbClr val="536478"/>
                </a:solidFill>
                <a:latin typeface="Arial"/>
                <a:ea typeface="Arial"/>
                <a:cs typeface="Arial"/>
              </a:defRPr>
            </a:lvl8pPr>
            <a:lvl9pPr>
              <a:defRPr sz="1575" b="0">
                <a:solidFill>
                  <a:srgbClr val="536478"/>
                </a:solidFill>
                <a:latin typeface="Arial"/>
                <a:ea typeface="Arial"/>
                <a:cs typeface="Arial"/>
              </a:defRPr>
            </a:lvl9pPr>
          </a:lstStyle>
          <a:p xmlns:a="http://schemas.openxmlformats.org/drawingml/2006/main">
            <a:pPr>
              <a:defRPr sz="1575" b="0">
                <a:solidFill>
                  <a:srgbClr val="536478"/>
                </a:solidFill>
                <a:latin typeface="Arial"/>
                <a:ea typeface="Arial"/>
                <a:cs typeface="Arial"/>
              </a:defRPr>
            </a:pPr>
            <a:r>
              <a:rPr sz="1575" b="0">
                <a:solidFill>
                  <a:srgbClr val="536478"/>
                </a:solidFill>
                <a:latin typeface="Arial"/>
                <a:ea typeface="Arial"/>
                <a:cs typeface="Arial"/>
              </a:rPr>
              <a:t>Trained fit classifier</a:t>
            </a:r>
          </a:p>
        </p:txBody>
      </p:sp>
      <p:sp>
        <p:nvSpPr>
          <p:cNvPr id="17" name="">
            <a:extLst xmlns:a="http://schemas.openxmlformats.org/drawingml/2006/main">
              <a:ext uri="{FF2B5EF4-FFF2-40B4-BE49-F238E27FC236}">
                <a16:creationId xmlns:a16="http://schemas.microsoft.com/office/drawing/2014/main" id="{98105044-43EA-4299-8E32-C02A2E80E496}"/>
              </a:ext>
            </a:extLst>
          </p:cNvPr>
          <p:cNvSpPr>
            <a:spLocks xmlns:a="http://schemas.openxmlformats.org/drawingml/2006/main" noGrp="1"/>
          </p:cNvSpPr>
          <p:nvPr/>
        </p:nvSpPr>
        <p:spPr>
          <a:xfrm xmlns:a="http://schemas.openxmlformats.org/drawingml/2006/main">
            <a:off x="4048125" y="2400300"/>
            <a:ext cx="400050" cy="219075"/>
          </a:xfrm>
          <a:prstGeom xmlns:a="http://schemas.openxmlformats.org/drawingml/2006/main" prst="rightArrow">
            <a:avLst/>
          </a:prstGeom>
          <a:solidFill xmlns:a="http://schemas.openxmlformats.org/drawingml/2006/main">
            <a:srgbClr val="127F7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202A57A-38A1-4DBC-BB72-70490DAEE4F6}"/>
              </a:ext>
            </a:extLst>
          </p:cNvPr>
          <p:cNvSpPr>
            <a:spLocks xmlns:a="http://schemas.openxmlformats.org/drawingml/2006/main" noGrp="1"/>
          </p:cNvSpPr>
          <p:nvPr/>
        </p:nvSpPr>
        <p:spPr>
          <a:xfrm xmlns:a="http://schemas.openxmlformats.org/drawingml/2006/main">
            <a:off x="7810500" y="2400300"/>
            <a:ext cx="400050" cy="219075"/>
          </a:xfrm>
          <a:prstGeom xmlns:a="http://schemas.openxmlformats.org/drawingml/2006/main" prst="rightArrow">
            <a:avLst/>
          </a:prstGeom>
          <a:solidFill xmlns:a="http://schemas.openxmlformats.org/drawingml/2006/main">
            <a:srgbClr val="127F7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92FFF48-5ADF-4979-B01F-5F42311E1EA7}"/>
              </a:ext>
            </a:extLst>
          </p:cNvPr>
          <p:cNvSpPr>
            <a:spLocks xmlns:a="http://schemas.openxmlformats.org/drawingml/2006/main" noGrp="1"/>
          </p:cNvSpPr>
          <p:nvPr/>
        </p:nvSpPr>
        <p:spPr>
          <a:xfrm xmlns:a="http://schemas.openxmlformats.org/drawingml/2006/main">
            <a:off x="4048125" y="4562475"/>
            <a:ext cx="400050" cy="219075"/>
          </a:xfrm>
          <a:prstGeom xmlns:a="http://schemas.openxmlformats.org/drawingml/2006/main" prst="rightArrow">
            <a:avLst/>
          </a:prstGeom>
          <a:solidFill xmlns:a="http://schemas.openxmlformats.org/drawingml/2006/main">
            <a:srgbClr val="127F7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CBFEE97-0A3A-4B14-997C-E7B8E5FD9389}"/>
              </a:ext>
            </a:extLst>
          </p:cNvPr>
          <p:cNvSpPr>
            <a:spLocks xmlns:a="http://schemas.openxmlformats.org/drawingml/2006/main" noGrp="1"/>
          </p:cNvSpPr>
          <p:nvPr/>
        </p:nvSpPr>
        <p:spPr>
          <a:xfrm xmlns:a="http://schemas.openxmlformats.org/drawingml/2006/main">
            <a:off x="7810500" y="4562475"/>
            <a:ext cx="400050" cy="219075"/>
          </a:xfrm>
          <a:prstGeom xmlns:a="http://schemas.openxmlformats.org/drawingml/2006/main" prst="rightArrow">
            <a:avLst/>
          </a:prstGeom>
          <a:solidFill xmlns:a="http://schemas.openxmlformats.org/drawingml/2006/main">
            <a:srgbClr val="127F76"/>
          </a:solidFill>
          <a:ln xmlns:a="http://schemas.openxmlformats.org/drawingml/2006/main" w="0">
            <a:noFill/>
          </a:ln>
        </p:spPr>
      </p:sp>
    </p:spTree>
    <p:extLst>
      <p:ext uri="{BB962C8B-B14F-4D97-AF65-F5344CB8AC3E}">
        <p14:creationId xmlns:p14="http://schemas.microsoft.com/office/powerpoint/2010/main" val="531800391"/>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EEE892-D771-451F-BCA1-8A9CD939612D}"/>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43A"/>
                </a:solidFill>
                <a:latin typeface="Arial"/>
                <a:ea typeface="Arial"/>
                <a:cs typeface="Arial"/>
              </a:defRPr>
            </a:defPPr>
            <a:lvl1pPr>
              <a:defRPr sz="3000" b="1">
                <a:solidFill>
                  <a:srgbClr val="14243A"/>
                </a:solidFill>
                <a:latin typeface="Arial"/>
                <a:ea typeface="Arial"/>
                <a:cs typeface="Arial"/>
              </a:defRPr>
            </a:lvl1pPr>
            <a:lvl2pPr>
              <a:defRPr sz="3000" b="1">
                <a:solidFill>
                  <a:srgbClr val="14243A"/>
                </a:solidFill>
                <a:latin typeface="Arial"/>
                <a:ea typeface="Arial"/>
                <a:cs typeface="Arial"/>
              </a:defRPr>
            </a:lvl2pPr>
            <a:lvl3pPr>
              <a:defRPr sz="3000" b="1">
                <a:solidFill>
                  <a:srgbClr val="14243A"/>
                </a:solidFill>
                <a:latin typeface="Arial"/>
                <a:ea typeface="Arial"/>
                <a:cs typeface="Arial"/>
              </a:defRPr>
            </a:lvl3pPr>
            <a:lvl4pPr>
              <a:defRPr sz="3000" b="1">
                <a:solidFill>
                  <a:srgbClr val="14243A"/>
                </a:solidFill>
                <a:latin typeface="Arial"/>
                <a:ea typeface="Arial"/>
                <a:cs typeface="Arial"/>
              </a:defRPr>
            </a:lvl4pPr>
            <a:lvl5pPr>
              <a:defRPr sz="3000" b="1">
                <a:solidFill>
                  <a:srgbClr val="14243A"/>
                </a:solidFill>
                <a:latin typeface="Arial"/>
                <a:ea typeface="Arial"/>
                <a:cs typeface="Arial"/>
              </a:defRPr>
            </a:lvl5pPr>
            <a:lvl6pPr>
              <a:defRPr sz="3000" b="1">
                <a:solidFill>
                  <a:srgbClr val="14243A"/>
                </a:solidFill>
                <a:latin typeface="Arial"/>
                <a:ea typeface="Arial"/>
                <a:cs typeface="Arial"/>
              </a:defRPr>
            </a:lvl6pPr>
            <a:lvl7pPr>
              <a:defRPr sz="3000" b="1">
                <a:solidFill>
                  <a:srgbClr val="14243A"/>
                </a:solidFill>
                <a:latin typeface="Arial"/>
                <a:ea typeface="Arial"/>
                <a:cs typeface="Arial"/>
              </a:defRPr>
            </a:lvl7pPr>
            <a:lvl8pPr>
              <a:defRPr sz="3000" b="1">
                <a:solidFill>
                  <a:srgbClr val="14243A"/>
                </a:solidFill>
                <a:latin typeface="Arial"/>
                <a:ea typeface="Arial"/>
                <a:cs typeface="Arial"/>
              </a:defRPr>
            </a:lvl8pPr>
            <a:lvl9pPr>
              <a:defRPr sz="3000" b="1">
                <a:solidFill>
                  <a:srgbClr val="14243A"/>
                </a:solidFill>
                <a:latin typeface="Arial"/>
                <a:ea typeface="Arial"/>
                <a:cs typeface="Arial"/>
              </a:defRPr>
            </a:lvl9pPr>
          </a:lstStyle>
          <a:p xmlns:a="http://schemas.openxmlformats.org/drawingml/2006/main">
            <a:pPr>
              <a:defRPr sz="3000" b="1">
                <a:solidFill>
                  <a:srgbClr val="14243A"/>
                </a:solidFill>
                <a:latin typeface="Arial"/>
                <a:ea typeface="Arial"/>
                <a:cs typeface="Arial"/>
              </a:defRPr>
            </a:pPr>
            <a:r>
              <a:rPr sz="3000" b="1">
                <a:solidFill>
                  <a:srgbClr val="14243A"/>
                </a:solidFill>
                <a:latin typeface="Arial"/>
                <a:ea typeface="Arial"/>
                <a:cs typeface="Arial"/>
              </a:rPr>
              <a:t>Experiments and model selection</a:t>
            </a:r>
          </a:p>
        </p:txBody>
      </p:sp>
      <p:sp>
        <p:nvSpPr>
          <p:cNvPr id="2" name="">
            <a:extLst xmlns:a="http://schemas.openxmlformats.org/drawingml/2006/main">
              <a:ext uri="{FF2B5EF4-FFF2-40B4-BE49-F238E27FC236}">
                <a16:creationId xmlns:a16="http://schemas.microsoft.com/office/drawing/2014/main" id="{280B1D6D-8FE3-4C2B-BB83-6F50F15851FE}"/>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478"/>
                </a:solidFill>
                <a:latin typeface="Arial"/>
                <a:ea typeface="Arial"/>
                <a:cs typeface="Arial"/>
              </a:defRPr>
            </a:defPPr>
            <a:lvl1pPr>
              <a:defRPr sz="1050" b="0">
                <a:solidFill>
                  <a:srgbClr val="536478"/>
                </a:solidFill>
                <a:latin typeface="Arial"/>
                <a:ea typeface="Arial"/>
                <a:cs typeface="Arial"/>
              </a:defRPr>
            </a:lvl1pPr>
            <a:lvl2pPr>
              <a:defRPr sz="1050" b="0">
                <a:solidFill>
                  <a:srgbClr val="536478"/>
                </a:solidFill>
                <a:latin typeface="Arial"/>
                <a:ea typeface="Arial"/>
                <a:cs typeface="Arial"/>
              </a:defRPr>
            </a:lvl2pPr>
            <a:lvl3pPr>
              <a:defRPr sz="1050" b="0">
                <a:solidFill>
                  <a:srgbClr val="536478"/>
                </a:solidFill>
                <a:latin typeface="Arial"/>
                <a:ea typeface="Arial"/>
                <a:cs typeface="Arial"/>
              </a:defRPr>
            </a:lvl3pPr>
            <a:lvl4pPr>
              <a:defRPr sz="1050" b="0">
                <a:solidFill>
                  <a:srgbClr val="536478"/>
                </a:solidFill>
                <a:latin typeface="Arial"/>
                <a:ea typeface="Arial"/>
                <a:cs typeface="Arial"/>
              </a:defRPr>
            </a:lvl4pPr>
            <a:lvl5pPr>
              <a:defRPr sz="1050" b="0">
                <a:solidFill>
                  <a:srgbClr val="536478"/>
                </a:solidFill>
                <a:latin typeface="Arial"/>
                <a:ea typeface="Arial"/>
                <a:cs typeface="Arial"/>
              </a:defRPr>
            </a:lvl5pPr>
            <a:lvl6pPr>
              <a:defRPr sz="1050" b="0">
                <a:solidFill>
                  <a:srgbClr val="536478"/>
                </a:solidFill>
                <a:latin typeface="Arial"/>
                <a:ea typeface="Arial"/>
                <a:cs typeface="Arial"/>
              </a:defRPr>
            </a:lvl6pPr>
            <a:lvl7pPr>
              <a:defRPr sz="1050" b="0">
                <a:solidFill>
                  <a:srgbClr val="536478"/>
                </a:solidFill>
                <a:latin typeface="Arial"/>
                <a:ea typeface="Arial"/>
                <a:cs typeface="Arial"/>
              </a:defRPr>
            </a:lvl7pPr>
            <a:lvl8pPr>
              <a:defRPr sz="1050" b="0">
                <a:solidFill>
                  <a:srgbClr val="536478"/>
                </a:solidFill>
                <a:latin typeface="Arial"/>
                <a:ea typeface="Arial"/>
                <a:cs typeface="Arial"/>
              </a:defRPr>
            </a:lvl8pPr>
            <a:lvl9pPr>
              <a:defRPr sz="1050" b="0">
                <a:solidFill>
                  <a:srgbClr val="536478"/>
                </a:solidFill>
                <a:latin typeface="Arial"/>
                <a:ea typeface="Arial"/>
                <a:cs typeface="Arial"/>
              </a:defRPr>
            </a:lvl9pPr>
          </a:lstStyle>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HeroVired AI/ML Capstone · Sanket Toche · 5/8</a:t>
            </a:r>
          </a:p>
        </p:txBody>
      </p:sp>
      <p:graphicFrame>
        <p:nvGraphicFramePr>
          <p:cNvPr id="3" name="">
            <a:extLst xmlns:a="http://schemas.openxmlformats.org/drawingml/2006/main">
              <a:ext uri="{FF2B5EF4-FFF2-40B4-BE49-F238E27FC236}">
                <a16:creationId xmlns:a16="http://schemas.microsoft.com/office/drawing/2014/main" id="{F447BB4B-5486-40D0-A9A6-BCA3143F5C2C}"/>
              </a:ext>
            </a:extLst>
          </p:cNvPr>
          <p:cNvGraphicFramePr/>
          <p:nvPr/>
        </p:nvGraphicFramePr>
        <p:xfrm>
          <a:off xmlns:a="http://schemas.openxmlformats.org/drawingml/2006/main" x="647700" y="1638300"/>
          <a:ext xmlns:a="http://schemas.openxmlformats.org/drawingml/2006/main" cx="6334125" cy="3838575"/>
        </p:xfrm>
        <a:graphic xmlns:a="http://schemas.openxmlformats.org/drawingml/2006/main">
          <a:graphicData uri="http://schemas.openxmlformats.org/drawingml/2006/table">
            <a:tbl>
              <a:tblPr/>
              <a:tblGrid>
                <a:gridCol w="4524375"/>
                <a:gridCol w="1809750"/>
              </a:tblGrid>
              <a:tr h="479822">
                <a:tc>
                  <a:txBody>
                    <a:bodyPr/>
                    <a:lstStyle/>
                    <a:p>
                      <a:r>
                        <a:rPr sz="1500" b="1">
                          <a:solidFill>
                            <a:srgbClr val="FFFFFF"/>
                          </a:solidFill>
                          <a:latin typeface="Arial"/>
                          <a:ea typeface="Arial"/>
                          <a:cs typeface="Arial"/>
                        </a:rPr>
                        <a:t>Configuration</a:t>
                      </a:r>
                    </a:p>
                  </a:txBody>
                  <a:tcPr marL="91440" marR="91440" marT="45720" marB="45720">
                    <a:lnL w="9525">
                      <a:solidFill>
                        <a:srgbClr val="D6DEE7"/>
                      </a:solidFill>
                      <a:prstDash val="solid"/>
                    </a:lnL>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Val macro F1</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r>
              <a:tr h="479822">
                <a:tc>
                  <a:txBody>
                    <a:bodyPr/>
                    <a:lstStyle/>
                    <a:p>
                      <a:r>
                        <a:rPr sz="1500" b="0">
                          <a:solidFill>
                            <a:srgbClr val="14243A"/>
                          </a:solidFill>
                          <a:latin typeface="Arial"/>
                          <a:ea typeface="Arial"/>
                          <a:cs typeface="Arial"/>
                        </a:rPr>
                        <a:t>TF-IDF + RF</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0.391</a:t>
                      </a:r>
                    </a:p>
                  </a:txBody>
                  <a:tcPr marL="91440" marR="91440" marT="45720" marB="45720">
                    <a:lnR w="9525">
                      <a:solidFill>
                        <a:srgbClr val="D6DEE7"/>
                      </a:solidFill>
                      <a:prstDash val="solid"/>
                    </a:lnR>
                    <a:lnB w="9525">
                      <a:solidFill>
                        <a:srgbClr val="D6DEE7"/>
                      </a:solidFill>
                      <a:prstDash val="solid"/>
                    </a:lnB>
                    <a:solidFill>
                      <a:srgbClr val="FFFFFF"/>
                    </a:solidFill>
                  </a:tcPr>
                </a:tc>
              </a:tr>
              <a:tr h="479822">
                <a:tc>
                  <a:txBody>
                    <a:bodyPr/>
                    <a:lstStyle/>
                    <a:p>
                      <a:r>
                        <a:rPr sz="1500" b="0">
                          <a:solidFill>
                            <a:srgbClr val="14243A"/>
                          </a:solidFill>
                          <a:latin typeface="Arial"/>
                          <a:ea typeface="Arial"/>
                          <a:cs typeface="Arial"/>
                        </a:rPr>
                        <a:t>Embedding cosine</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0.415</a:t>
                      </a:r>
                    </a:p>
                  </a:txBody>
                  <a:tcPr marL="91440" marR="91440" marT="45720" marB="45720">
                    <a:lnR w="9525">
                      <a:solidFill>
                        <a:srgbClr val="D6DEE7"/>
                      </a:solidFill>
                      <a:prstDash val="solid"/>
                    </a:lnR>
                    <a:lnB w="9525">
                      <a:solidFill>
                        <a:srgbClr val="D6DEE7"/>
                      </a:solidFill>
                      <a:prstDash val="solid"/>
                    </a:lnB>
                    <a:solidFill>
                      <a:srgbClr val="F6F8FB"/>
                    </a:solidFill>
                  </a:tcPr>
                </a:tc>
              </a:tr>
              <a:tr h="479822">
                <a:tc>
                  <a:txBody>
                    <a:bodyPr/>
                    <a:lstStyle/>
                    <a:p>
                      <a:r>
                        <a:rPr sz="1500" b="0">
                          <a:solidFill>
                            <a:srgbClr val="14243A"/>
                          </a:solidFill>
                          <a:latin typeface="Arial"/>
                          <a:ea typeface="Arial"/>
                          <a:cs typeface="Arial"/>
                        </a:rPr>
                        <a:t>logistic C0.1</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0.473</a:t>
                      </a:r>
                    </a:p>
                  </a:txBody>
                  <a:tcPr marL="91440" marR="91440" marT="45720" marB="45720">
                    <a:lnR w="9525">
                      <a:solidFill>
                        <a:srgbClr val="D6DEE7"/>
                      </a:solidFill>
                      <a:prstDash val="solid"/>
                    </a:lnR>
                    <a:lnB w="9525">
                      <a:solidFill>
                        <a:srgbClr val="D6DEE7"/>
                      </a:solidFill>
                      <a:prstDash val="solid"/>
                    </a:lnB>
                    <a:solidFill>
                      <a:srgbClr val="FFFFFF"/>
                    </a:solidFill>
                  </a:tcPr>
                </a:tc>
              </a:tr>
              <a:tr h="479822">
                <a:tc>
                  <a:txBody>
                    <a:bodyPr/>
                    <a:lstStyle/>
                    <a:p>
                      <a:r>
                        <a:rPr sz="1500" b="0">
                          <a:solidFill>
                            <a:srgbClr val="14243A"/>
                          </a:solidFill>
                          <a:latin typeface="Arial"/>
                          <a:ea typeface="Arial"/>
                          <a:cs typeface="Arial"/>
                        </a:rPr>
                        <a:t>logistic C1</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0.473</a:t>
                      </a:r>
                    </a:p>
                  </a:txBody>
                  <a:tcPr marL="91440" marR="91440" marT="45720" marB="45720">
                    <a:lnR w="9525">
                      <a:solidFill>
                        <a:srgbClr val="D6DEE7"/>
                      </a:solidFill>
                      <a:prstDash val="solid"/>
                    </a:lnR>
                    <a:lnB w="9525">
                      <a:solidFill>
                        <a:srgbClr val="D6DEE7"/>
                      </a:solidFill>
                      <a:prstDash val="solid"/>
                    </a:lnB>
                    <a:solidFill>
                      <a:srgbClr val="F6F8FB"/>
                    </a:solidFill>
                  </a:tcPr>
                </a:tc>
              </a:tr>
              <a:tr h="479822">
                <a:tc>
                  <a:txBody>
                    <a:bodyPr/>
                    <a:lstStyle/>
                    <a:p>
                      <a:r>
                        <a:rPr sz="1500" b="0">
                          <a:solidFill>
                            <a:srgbClr val="14243A"/>
                          </a:solidFill>
                          <a:latin typeface="Arial"/>
                          <a:ea typeface="Arial"/>
                          <a:cs typeface="Arial"/>
                        </a:rPr>
                        <a:t>ExtraTrees leaf2</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0.322</a:t>
                      </a:r>
                    </a:p>
                  </a:txBody>
                  <a:tcPr marL="91440" marR="91440" marT="45720" marB="45720">
                    <a:lnR w="9525">
                      <a:solidFill>
                        <a:srgbClr val="D6DEE7"/>
                      </a:solidFill>
                      <a:prstDash val="solid"/>
                    </a:lnR>
                    <a:lnB w="9525">
                      <a:solidFill>
                        <a:srgbClr val="D6DEE7"/>
                      </a:solidFill>
                      <a:prstDash val="solid"/>
                    </a:lnB>
                    <a:solidFill>
                      <a:srgbClr val="FFFFFF"/>
                    </a:solidFill>
                  </a:tcPr>
                </a:tc>
              </a:tr>
              <a:tr h="479822">
                <a:tc>
                  <a:txBody>
                    <a:bodyPr/>
                    <a:lstStyle/>
                    <a:p>
                      <a:r>
                        <a:rPr sz="1500" b="0">
                          <a:solidFill>
                            <a:srgbClr val="14243A"/>
                          </a:solidFill>
                          <a:latin typeface="Arial"/>
                          <a:ea typeface="Arial"/>
                          <a:cs typeface="Arial"/>
                        </a:rPr>
                        <a:t>ExtraTrees leaf5</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0.354</a:t>
                      </a:r>
                    </a:p>
                  </a:txBody>
                  <a:tcPr marL="91440" marR="91440" marT="45720" marB="45720">
                    <a:lnR w="9525">
                      <a:solidFill>
                        <a:srgbClr val="D6DEE7"/>
                      </a:solidFill>
                      <a:prstDash val="solid"/>
                    </a:lnR>
                    <a:lnB w="9525">
                      <a:solidFill>
                        <a:srgbClr val="D6DEE7"/>
                      </a:solidFill>
                      <a:prstDash val="solid"/>
                    </a:lnB>
                    <a:solidFill>
                      <a:srgbClr val="F6F8FB"/>
                    </a:solidFill>
                  </a:tcPr>
                </a:tc>
              </a:tr>
              <a:tr h="479822">
                <a:tc>
                  <a:txBody>
                    <a:bodyPr/>
                    <a:lstStyle/>
                    <a:p>
                      <a:r>
                        <a:rPr sz="1500" b="0">
                          <a:solidFill>
                            <a:srgbClr val="14243A"/>
                          </a:solidFill>
                          <a:latin typeface="Arial"/>
                          <a:ea typeface="Arial"/>
                          <a:cs typeface="Arial"/>
                        </a:rPr>
                        <a:t>RandomForest leaf3</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0.363</a:t>
                      </a:r>
                    </a:p>
                  </a:txBody>
                  <a:tcPr marL="91440" marR="91440" marT="45720" marB="45720">
                    <a:lnR w="9525">
                      <a:solidFill>
                        <a:srgbClr val="D6DEE7"/>
                      </a:solidFill>
                      <a:prstDash val="solid"/>
                    </a:lnR>
                    <a:lnB w="9525">
                      <a:solidFill>
                        <a:srgbClr val="D6DEE7"/>
                      </a:solidFill>
                      <a:prstDash val="solid"/>
                    </a:lnB>
                    <a:solidFill>
                      <a:srgbClr val="FFFFFF"/>
                    </a:solidFill>
                  </a:tcPr>
                </a:tc>
              </a:tr>
            </a:tbl>
          </a:graphicData>
        </a:graphic>
      </p:graphicFrame>
      <p:graphicFrame>
        <p:nvGraphicFramePr>
          <p:cNvPr id="4" name="Chart">
            <a:extLst xmlns:a="http://schemas.openxmlformats.org/drawingml/2006/main">
              <a:ext uri="{FF2B5EF4-FFF2-40B4-BE49-F238E27FC236}">
                <a16:creationId xmlns:a16="http://schemas.microsoft.com/office/drawing/2014/main" id="{0D6A52C5-AA34-4F7B-9043-86F7CC44210B}"/>
              </a:ext>
            </a:extLst>
          </p:cNvPr>
          <p:cNvGraphicFramePr/>
          <p:nvPr/>
        </p:nvGraphicFramePr>
        <p:xfrm>
          <a:off xmlns:a="http://schemas.openxmlformats.org/drawingml/2006/main" x="7334250" y="1752600"/>
          <a:ext xmlns:a="http://schemas.openxmlformats.org/drawingml/2006/main" cx="4191000" cy="3238500"/>
        </p:xfrm>
        <a:graphic xmlns:a="http://schemas.openxmlformats.org/drawingml/2006/main">
          <a:graphicData uri="http://schemas.openxmlformats.org/drawingml/2006/chart">
            <c:chart xmlns:r="http://schemas.openxmlformats.org/officeDocument/2006/relationships" xmlns:c="http://schemas.openxmlformats.org/drawingml/2006/chart" r:id="R8fb35d29956640b5"/>
          </a:graphicData>
        </a:graphic>
      </p:graphicFrame>
      <p:sp>
        <p:nvSpPr>
          <p:cNvPr id="5" name="">
            <a:extLst xmlns:a="http://schemas.openxmlformats.org/drawingml/2006/main">
              <a:ext uri="{FF2B5EF4-FFF2-40B4-BE49-F238E27FC236}">
                <a16:creationId xmlns:a16="http://schemas.microsoft.com/office/drawing/2014/main" id="{F1070201-8971-43E7-9EDC-E19E70E04343}"/>
              </a:ext>
            </a:extLst>
          </p:cNvPr>
          <p:cNvSpPr>
            <a:spLocks xmlns:a="http://schemas.openxmlformats.org/drawingml/2006/main" noGrp="1"/>
          </p:cNvSpPr>
          <p:nvPr/>
        </p:nvSpPr>
        <p:spPr>
          <a:xfrm xmlns:a="http://schemas.openxmlformats.org/drawingml/2006/main">
            <a:off x="647700" y="5705475"/>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478"/>
                </a:solidFill>
                <a:latin typeface="Arial"/>
                <a:ea typeface="Arial"/>
                <a:cs typeface="Arial"/>
              </a:defRPr>
            </a:defPPr>
            <a:lvl1pPr>
              <a:defRPr sz="1575" b="0">
                <a:solidFill>
                  <a:srgbClr val="536478"/>
                </a:solidFill>
                <a:latin typeface="Arial"/>
                <a:ea typeface="Arial"/>
                <a:cs typeface="Arial"/>
              </a:defRPr>
            </a:lvl1pPr>
            <a:lvl2pPr>
              <a:defRPr sz="1575" b="0">
                <a:solidFill>
                  <a:srgbClr val="536478"/>
                </a:solidFill>
                <a:latin typeface="Arial"/>
                <a:ea typeface="Arial"/>
                <a:cs typeface="Arial"/>
              </a:defRPr>
            </a:lvl2pPr>
            <a:lvl3pPr>
              <a:defRPr sz="1575" b="0">
                <a:solidFill>
                  <a:srgbClr val="536478"/>
                </a:solidFill>
                <a:latin typeface="Arial"/>
                <a:ea typeface="Arial"/>
                <a:cs typeface="Arial"/>
              </a:defRPr>
            </a:lvl3pPr>
            <a:lvl4pPr>
              <a:defRPr sz="1575" b="0">
                <a:solidFill>
                  <a:srgbClr val="536478"/>
                </a:solidFill>
                <a:latin typeface="Arial"/>
                <a:ea typeface="Arial"/>
                <a:cs typeface="Arial"/>
              </a:defRPr>
            </a:lvl4pPr>
            <a:lvl5pPr>
              <a:defRPr sz="1575" b="0">
                <a:solidFill>
                  <a:srgbClr val="536478"/>
                </a:solidFill>
                <a:latin typeface="Arial"/>
                <a:ea typeface="Arial"/>
                <a:cs typeface="Arial"/>
              </a:defRPr>
            </a:lvl5pPr>
            <a:lvl6pPr>
              <a:defRPr sz="1575" b="0">
                <a:solidFill>
                  <a:srgbClr val="536478"/>
                </a:solidFill>
                <a:latin typeface="Arial"/>
                <a:ea typeface="Arial"/>
                <a:cs typeface="Arial"/>
              </a:defRPr>
            </a:lvl6pPr>
            <a:lvl7pPr>
              <a:defRPr sz="1575" b="0">
                <a:solidFill>
                  <a:srgbClr val="536478"/>
                </a:solidFill>
                <a:latin typeface="Arial"/>
                <a:ea typeface="Arial"/>
                <a:cs typeface="Arial"/>
              </a:defRPr>
            </a:lvl7pPr>
            <a:lvl8pPr>
              <a:defRPr sz="1575" b="0">
                <a:solidFill>
                  <a:srgbClr val="536478"/>
                </a:solidFill>
                <a:latin typeface="Arial"/>
                <a:ea typeface="Arial"/>
                <a:cs typeface="Arial"/>
              </a:defRPr>
            </a:lvl8pPr>
            <a:lvl9pPr>
              <a:defRPr sz="1575" b="0">
                <a:solidFill>
                  <a:srgbClr val="536478"/>
                </a:solidFill>
                <a:latin typeface="Arial"/>
                <a:ea typeface="Arial"/>
                <a:cs typeface="Arial"/>
              </a:defRPr>
            </a:lvl9pPr>
          </a:lstStyle>
          <a:p xmlns:a="http://schemas.openxmlformats.org/drawingml/2006/main">
            <a:pPr>
              <a:defRPr sz="1575" b="0">
                <a:solidFill>
                  <a:srgbClr val="536478"/>
                </a:solidFill>
                <a:latin typeface="Arial"/>
                <a:ea typeface="Arial"/>
                <a:cs typeface="Arial"/>
              </a:defRPr>
            </a:pPr>
            <a:r>
              <a:rPr sz="1575" b="0">
                <a:solidFill>
                  <a:srgbClr val="536478"/>
                </a:solidFill>
                <a:latin typeface="Arial"/>
                <a:ea typeface="Arial"/>
                <a:cs typeface="Arial"/>
              </a:rPr>
              <a:t>Selection: validation macro F1. The training–validation gap shows overfitting.</a:t>
            </a:r>
          </a:p>
          <a:p xmlns:a="http://schemas.openxmlformats.org/drawingml/2006/main">
            <a:pPr>
              <a:defRPr sz="1575" b="0">
                <a:solidFill>
                  <a:srgbClr val="536478"/>
                </a:solidFill>
                <a:latin typeface="Arial"/>
                <a:ea typeface="Arial"/>
                <a:cs typeface="Arial"/>
              </a:defRPr>
            </a:pPr>
            <a:r>
              <a:rPr sz="1575" b="0">
                <a:solidFill>
                  <a:srgbClr val="536478"/>
                </a:solidFill>
                <a:latin typeface="Arial"/>
                <a:ea typeface="Arial"/>
                <a:cs typeface="Arial"/>
              </a:rPr>
              <a:t>Encoder: frozen, batch 32, 256 tokens</a:t>
            </a:r>
          </a:p>
        </p:txBody>
      </p:sp>
    </p:spTree>
    <p:extLst>
      <p:ext uri="{BB962C8B-B14F-4D97-AF65-F5344CB8AC3E}">
        <p14:creationId xmlns:p14="http://schemas.microsoft.com/office/powerpoint/2010/main" val="1525898550"/>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E5A470-7054-46F1-AC86-A72543102A38}"/>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43A"/>
                </a:solidFill>
                <a:latin typeface="Arial"/>
                <a:ea typeface="Arial"/>
                <a:cs typeface="Arial"/>
              </a:defRPr>
            </a:defPPr>
            <a:lvl1pPr>
              <a:defRPr sz="3000" b="1">
                <a:solidFill>
                  <a:srgbClr val="14243A"/>
                </a:solidFill>
                <a:latin typeface="Arial"/>
                <a:ea typeface="Arial"/>
                <a:cs typeface="Arial"/>
              </a:defRPr>
            </a:lvl1pPr>
            <a:lvl2pPr>
              <a:defRPr sz="3000" b="1">
                <a:solidFill>
                  <a:srgbClr val="14243A"/>
                </a:solidFill>
                <a:latin typeface="Arial"/>
                <a:ea typeface="Arial"/>
                <a:cs typeface="Arial"/>
              </a:defRPr>
            </a:lvl2pPr>
            <a:lvl3pPr>
              <a:defRPr sz="3000" b="1">
                <a:solidFill>
                  <a:srgbClr val="14243A"/>
                </a:solidFill>
                <a:latin typeface="Arial"/>
                <a:ea typeface="Arial"/>
                <a:cs typeface="Arial"/>
              </a:defRPr>
            </a:lvl3pPr>
            <a:lvl4pPr>
              <a:defRPr sz="3000" b="1">
                <a:solidFill>
                  <a:srgbClr val="14243A"/>
                </a:solidFill>
                <a:latin typeface="Arial"/>
                <a:ea typeface="Arial"/>
                <a:cs typeface="Arial"/>
              </a:defRPr>
            </a:lvl4pPr>
            <a:lvl5pPr>
              <a:defRPr sz="3000" b="1">
                <a:solidFill>
                  <a:srgbClr val="14243A"/>
                </a:solidFill>
                <a:latin typeface="Arial"/>
                <a:ea typeface="Arial"/>
                <a:cs typeface="Arial"/>
              </a:defRPr>
            </a:lvl5pPr>
            <a:lvl6pPr>
              <a:defRPr sz="3000" b="1">
                <a:solidFill>
                  <a:srgbClr val="14243A"/>
                </a:solidFill>
                <a:latin typeface="Arial"/>
                <a:ea typeface="Arial"/>
                <a:cs typeface="Arial"/>
              </a:defRPr>
            </a:lvl6pPr>
            <a:lvl7pPr>
              <a:defRPr sz="3000" b="1">
                <a:solidFill>
                  <a:srgbClr val="14243A"/>
                </a:solidFill>
                <a:latin typeface="Arial"/>
                <a:ea typeface="Arial"/>
                <a:cs typeface="Arial"/>
              </a:defRPr>
            </a:lvl7pPr>
            <a:lvl8pPr>
              <a:defRPr sz="3000" b="1">
                <a:solidFill>
                  <a:srgbClr val="14243A"/>
                </a:solidFill>
                <a:latin typeface="Arial"/>
                <a:ea typeface="Arial"/>
                <a:cs typeface="Arial"/>
              </a:defRPr>
            </a:lvl8pPr>
            <a:lvl9pPr>
              <a:defRPr sz="3000" b="1">
                <a:solidFill>
                  <a:srgbClr val="14243A"/>
                </a:solidFill>
                <a:latin typeface="Arial"/>
                <a:ea typeface="Arial"/>
                <a:cs typeface="Arial"/>
              </a:defRPr>
            </a:lvl9pPr>
          </a:lstStyle>
          <a:p xmlns:a="http://schemas.openxmlformats.org/drawingml/2006/main">
            <a:pPr>
              <a:defRPr sz="3000" b="1">
                <a:solidFill>
                  <a:srgbClr val="14243A"/>
                </a:solidFill>
                <a:latin typeface="Arial"/>
                <a:ea typeface="Arial"/>
                <a:cs typeface="Arial"/>
              </a:defRPr>
            </a:pPr>
            <a:r>
              <a:rPr sz="3000" b="1">
                <a:solidFill>
                  <a:srgbClr val="14243A"/>
                </a:solidFill>
                <a:latin typeface="Arial"/>
                <a:ea typeface="Arial"/>
                <a:cs typeface="Arial"/>
              </a:rPr>
              <a:t>Held-out results and error analysis</a:t>
            </a:r>
          </a:p>
        </p:txBody>
      </p:sp>
      <p:sp>
        <p:nvSpPr>
          <p:cNvPr id="2" name="">
            <a:extLst xmlns:a="http://schemas.openxmlformats.org/drawingml/2006/main">
              <a:ext uri="{FF2B5EF4-FFF2-40B4-BE49-F238E27FC236}">
                <a16:creationId xmlns:a16="http://schemas.microsoft.com/office/drawing/2014/main" id="{F91CA276-E544-4BBC-85BA-D56228E77A26}"/>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478"/>
                </a:solidFill>
                <a:latin typeface="Arial"/>
                <a:ea typeface="Arial"/>
                <a:cs typeface="Arial"/>
              </a:defRPr>
            </a:defPPr>
            <a:lvl1pPr>
              <a:defRPr sz="1050" b="0">
                <a:solidFill>
                  <a:srgbClr val="536478"/>
                </a:solidFill>
                <a:latin typeface="Arial"/>
                <a:ea typeface="Arial"/>
                <a:cs typeface="Arial"/>
              </a:defRPr>
            </a:lvl1pPr>
            <a:lvl2pPr>
              <a:defRPr sz="1050" b="0">
                <a:solidFill>
                  <a:srgbClr val="536478"/>
                </a:solidFill>
                <a:latin typeface="Arial"/>
                <a:ea typeface="Arial"/>
                <a:cs typeface="Arial"/>
              </a:defRPr>
            </a:lvl2pPr>
            <a:lvl3pPr>
              <a:defRPr sz="1050" b="0">
                <a:solidFill>
                  <a:srgbClr val="536478"/>
                </a:solidFill>
                <a:latin typeface="Arial"/>
                <a:ea typeface="Arial"/>
                <a:cs typeface="Arial"/>
              </a:defRPr>
            </a:lvl3pPr>
            <a:lvl4pPr>
              <a:defRPr sz="1050" b="0">
                <a:solidFill>
                  <a:srgbClr val="536478"/>
                </a:solidFill>
                <a:latin typeface="Arial"/>
                <a:ea typeface="Arial"/>
                <a:cs typeface="Arial"/>
              </a:defRPr>
            </a:lvl4pPr>
            <a:lvl5pPr>
              <a:defRPr sz="1050" b="0">
                <a:solidFill>
                  <a:srgbClr val="536478"/>
                </a:solidFill>
                <a:latin typeface="Arial"/>
                <a:ea typeface="Arial"/>
                <a:cs typeface="Arial"/>
              </a:defRPr>
            </a:lvl5pPr>
            <a:lvl6pPr>
              <a:defRPr sz="1050" b="0">
                <a:solidFill>
                  <a:srgbClr val="536478"/>
                </a:solidFill>
                <a:latin typeface="Arial"/>
                <a:ea typeface="Arial"/>
                <a:cs typeface="Arial"/>
              </a:defRPr>
            </a:lvl6pPr>
            <a:lvl7pPr>
              <a:defRPr sz="1050" b="0">
                <a:solidFill>
                  <a:srgbClr val="536478"/>
                </a:solidFill>
                <a:latin typeface="Arial"/>
                <a:ea typeface="Arial"/>
                <a:cs typeface="Arial"/>
              </a:defRPr>
            </a:lvl7pPr>
            <a:lvl8pPr>
              <a:defRPr sz="1050" b="0">
                <a:solidFill>
                  <a:srgbClr val="536478"/>
                </a:solidFill>
                <a:latin typeface="Arial"/>
                <a:ea typeface="Arial"/>
                <a:cs typeface="Arial"/>
              </a:defRPr>
            </a:lvl8pPr>
            <a:lvl9pPr>
              <a:defRPr sz="1050" b="0">
                <a:solidFill>
                  <a:srgbClr val="536478"/>
                </a:solidFill>
                <a:latin typeface="Arial"/>
                <a:ea typeface="Arial"/>
                <a:cs typeface="Arial"/>
              </a:defRPr>
            </a:lvl9pPr>
          </a:lstStyle>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HeroVired AI/ML Capstone · Sanket Toche · 6/8</a:t>
            </a:r>
          </a:p>
        </p:txBody>
      </p:sp>
      <p:graphicFrame>
        <p:nvGraphicFramePr>
          <p:cNvPr id="3" name="">
            <a:extLst xmlns:a="http://schemas.openxmlformats.org/drawingml/2006/main">
              <a:ext uri="{FF2B5EF4-FFF2-40B4-BE49-F238E27FC236}">
                <a16:creationId xmlns:a16="http://schemas.microsoft.com/office/drawing/2014/main" id="{CE7B9D77-C89F-4A83-9320-C9281B7ECDDF}"/>
              </a:ext>
            </a:extLst>
          </p:cNvPr>
          <p:cNvGraphicFramePr/>
          <p:nvPr/>
        </p:nvGraphicFramePr>
        <p:xfrm>
          <a:off xmlns:a="http://schemas.openxmlformats.org/drawingml/2006/main" x="647700" y="1485900"/>
          <a:ext xmlns:a="http://schemas.openxmlformats.org/drawingml/2006/main" cx="10896600" cy="2000250"/>
        </p:xfrm>
        <a:graphic xmlns:a="http://schemas.openxmlformats.org/drawingml/2006/main">
          <a:graphicData uri="http://schemas.openxmlformats.org/drawingml/2006/table">
            <a:tbl>
              <a:tblPr/>
              <a:tblGrid>
                <a:gridCol w="3143250"/>
                <a:gridCol w="1809750"/>
                <a:gridCol w="1809750"/>
                <a:gridCol w="2095500"/>
                <a:gridCol w="2038350"/>
              </a:tblGrid>
              <a:tr h="500063">
                <a:tc>
                  <a:txBody>
                    <a:bodyPr/>
                    <a:lstStyle/>
                    <a:p>
                      <a:r>
                        <a:rPr sz="1500" b="1">
                          <a:solidFill>
                            <a:srgbClr val="FFFFFF"/>
                          </a:solidFill>
                          <a:latin typeface="Arial"/>
                          <a:ea typeface="Arial"/>
                          <a:cs typeface="Arial"/>
                        </a:rPr>
                        <a:t>Model</a:t>
                      </a:r>
                    </a:p>
                  </a:txBody>
                  <a:tcPr marL="91440" marR="91440" marT="45720" marB="45720">
                    <a:lnL w="9525">
                      <a:solidFill>
                        <a:srgbClr val="D6DEE7"/>
                      </a:solidFill>
                      <a:prstDash val="solid"/>
                    </a:lnL>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Accuracy</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Macro F1</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NDCG@3</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P@3</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r>
              <a:tr h="500063">
                <a:tc>
                  <a:txBody>
                    <a:bodyPr/>
                    <a:lstStyle/>
                    <a:p>
                      <a:r>
                        <a:rPr sz="1500" b="0">
                          <a:solidFill>
                            <a:srgbClr val="14243A"/>
                          </a:solidFill>
                          <a:latin typeface="Arial"/>
                          <a:ea typeface="Arial"/>
                          <a:cs typeface="Arial"/>
                        </a:rPr>
                        <a:t>Majority</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48.7%</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0.218</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0.498</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0.215</a:t>
                      </a:r>
                    </a:p>
                  </a:txBody>
                  <a:tcPr marL="91440" marR="91440" marT="45720" marB="45720">
                    <a:lnR w="9525">
                      <a:solidFill>
                        <a:srgbClr val="D6DEE7"/>
                      </a:solidFill>
                      <a:prstDash val="solid"/>
                    </a:lnR>
                    <a:lnB w="9525">
                      <a:solidFill>
                        <a:srgbClr val="D6DEE7"/>
                      </a:solidFill>
                      <a:prstDash val="solid"/>
                    </a:lnB>
                    <a:solidFill>
                      <a:srgbClr val="FFFFFF"/>
                    </a:solidFill>
                  </a:tcPr>
                </a:tc>
              </a:tr>
              <a:tr h="500063">
                <a:tc>
                  <a:txBody>
                    <a:bodyPr/>
                    <a:lstStyle/>
                    <a:p>
                      <a:r>
                        <a:rPr sz="1500" b="0">
                          <a:solidFill>
                            <a:srgbClr val="14243A"/>
                          </a:solidFill>
                          <a:latin typeface="Arial"/>
                          <a:ea typeface="Arial"/>
                          <a:cs typeface="Arial"/>
                        </a:rPr>
                        <a:t>Baseline</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46.7%</a:t>
                      </a:r>
                    </a:p>
                  </a:txBody>
                  <a:tcPr marL="91440" marR="91440" marT="45720" marB="45720">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0.363</a:t>
                      </a:r>
                    </a:p>
                  </a:txBody>
                  <a:tcPr marL="91440" marR="91440" marT="45720" marB="45720">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0.615</a:t>
                      </a:r>
                    </a:p>
                  </a:txBody>
                  <a:tcPr marL="91440" marR="91440" marT="45720" marB="45720">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0.290</a:t>
                      </a:r>
                    </a:p>
                  </a:txBody>
                  <a:tcPr marL="91440" marR="91440" marT="45720" marB="45720">
                    <a:lnR w="9525">
                      <a:solidFill>
                        <a:srgbClr val="D6DEE7"/>
                      </a:solidFill>
                      <a:prstDash val="solid"/>
                    </a:lnR>
                    <a:lnB w="9525">
                      <a:solidFill>
                        <a:srgbClr val="D6DEE7"/>
                      </a:solidFill>
                      <a:prstDash val="solid"/>
                    </a:lnB>
                    <a:solidFill>
                      <a:srgbClr val="F6F8FB"/>
                    </a:solidFill>
                  </a:tcPr>
                </a:tc>
              </a:tr>
              <a:tr h="500063">
                <a:tc>
                  <a:txBody>
                    <a:bodyPr/>
                    <a:lstStyle/>
                    <a:p>
                      <a:r>
                        <a:rPr sz="1500" b="0">
                          <a:solidFill>
                            <a:srgbClr val="14243A"/>
                          </a:solidFill>
                          <a:latin typeface="Arial"/>
                          <a:ea typeface="Arial"/>
                          <a:cs typeface="Arial"/>
                        </a:rPr>
                        <a:t>Advanced</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47.9%</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0.449</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0.691</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0.306</a:t>
                      </a:r>
                    </a:p>
                  </a:txBody>
                  <a:tcPr marL="91440" marR="91440" marT="45720" marB="45720">
                    <a:lnR w="9525">
                      <a:solidFill>
                        <a:srgbClr val="D6DEE7"/>
                      </a:solidFill>
                      <a:prstDash val="solid"/>
                    </a:lnR>
                    <a:lnB w="9525">
                      <a:solidFill>
                        <a:srgbClr val="D6DEE7"/>
                      </a:solidFill>
                      <a:prstDash val="solid"/>
                    </a:lnB>
                    <a:solidFill>
                      <a:srgbClr val="FFFFFF"/>
                    </a:solidFill>
                  </a:tcPr>
                </a:tc>
              </a:tr>
            </a:tbl>
          </a:graphicData>
        </a:graphic>
      </p:graphicFrame>
      <p:graphicFrame>
        <p:nvGraphicFramePr>
          <p:cNvPr id="4" name="">
            <a:extLst xmlns:a="http://schemas.openxmlformats.org/drawingml/2006/main">
              <a:ext uri="{FF2B5EF4-FFF2-40B4-BE49-F238E27FC236}">
                <a16:creationId xmlns:a16="http://schemas.microsoft.com/office/drawing/2014/main" id="{AE40A5F3-9735-48EC-9FA8-CA6A589094E5}"/>
              </a:ext>
            </a:extLst>
          </p:cNvPr>
          <p:cNvGraphicFramePr/>
          <p:nvPr/>
        </p:nvGraphicFramePr>
        <p:xfrm>
          <a:off xmlns:a="http://schemas.openxmlformats.org/drawingml/2006/main" x="647700" y="3943350"/>
          <a:ext xmlns:a="http://schemas.openxmlformats.org/drawingml/2006/main" cx="5334000" cy="1847850"/>
        </p:xfrm>
        <a:graphic xmlns:a="http://schemas.openxmlformats.org/drawingml/2006/main">
          <a:graphicData uri="http://schemas.openxmlformats.org/drawingml/2006/table">
            <a:tbl>
              <a:tblPr/>
              <a:tblGrid>
                <a:gridCol w="2333625"/>
                <a:gridCol w="904875"/>
                <a:gridCol w="1047750"/>
                <a:gridCol w="1047750"/>
              </a:tblGrid>
              <a:tr h="461963">
                <a:tc>
                  <a:txBody>
                    <a:bodyPr/>
                    <a:lstStyle/>
                    <a:p>
                      <a:r>
                        <a:rPr sz="1500" b="1">
                          <a:solidFill>
                            <a:srgbClr val="FFFFFF"/>
                          </a:solidFill>
                          <a:latin typeface="Arial"/>
                          <a:ea typeface="Arial"/>
                          <a:cs typeface="Arial"/>
                        </a:rPr>
                        <a:t>Actual / predicted</a:t>
                      </a:r>
                    </a:p>
                  </a:txBody>
                  <a:tcPr marL="91440" marR="91440" marT="45720" marB="45720">
                    <a:lnL w="9525">
                      <a:solidFill>
                        <a:srgbClr val="D6DEE7"/>
                      </a:solidFill>
                      <a:prstDash val="solid"/>
                    </a:lnL>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Low</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Potential</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Strong</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r>
              <a:tr h="461963">
                <a:tc>
                  <a:txBody>
                    <a:bodyPr/>
                    <a:lstStyle/>
                    <a:p>
                      <a:r>
                        <a:rPr sz="1500" b="0">
                          <a:solidFill>
                            <a:srgbClr val="14243A"/>
                          </a:solidFill>
                          <a:latin typeface="Arial"/>
                          <a:ea typeface="Arial"/>
                          <a:cs typeface="Arial"/>
                        </a:rPr>
                        <a:t>Low</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485</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247</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125</a:t>
                      </a:r>
                    </a:p>
                  </a:txBody>
                  <a:tcPr marL="91440" marR="91440" marT="45720" marB="45720">
                    <a:lnR w="9525">
                      <a:solidFill>
                        <a:srgbClr val="D6DEE7"/>
                      </a:solidFill>
                      <a:prstDash val="solid"/>
                    </a:lnR>
                    <a:lnB w="9525">
                      <a:solidFill>
                        <a:srgbClr val="D6DEE7"/>
                      </a:solidFill>
                      <a:prstDash val="solid"/>
                    </a:lnB>
                    <a:solidFill>
                      <a:srgbClr val="FFFFFF"/>
                    </a:solidFill>
                  </a:tcPr>
                </a:tc>
              </a:tr>
              <a:tr h="461963">
                <a:tc>
                  <a:txBody>
                    <a:bodyPr/>
                    <a:lstStyle/>
                    <a:p>
                      <a:r>
                        <a:rPr sz="1500" b="0">
                          <a:solidFill>
                            <a:srgbClr val="14243A"/>
                          </a:solidFill>
                          <a:latin typeface="Arial"/>
                          <a:ea typeface="Arial"/>
                          <a:cs typeface="Arial"/>
                        </a:rPr>
                        <a:t>Potential</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152</a:t>
                      </a:r>
                    </a:p>
                  </a:txBody>
                  <a:tcPr marL="91440" marR="91440" marT="45720" marB="45720">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217</a:t>
                      </a:r>
                    </a:p>
                  </a:txBody>
                  <a:tcPr marL="91440" marR="91440" marT="45720" marB="45720">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75</a:t>
                      </a:r>
                    </a:p>
                  </a:txBody>
                  <a:tcPr marL="91440" marR="91440" marT="45720" marB="45720">
                    <a:lnR w="9525">
                      <a:solidFill>
                        <a:srgbClr val="D6DEE7"/>
                      </a:solidFill>
                      <a:prstDash val="solid"/>
                    </a:lnR>
                    <a:lnB w="9525">
                      <a:solidFill>
                        <a:srgbClr val="D6DEE7"/>
                      </a:solidFill>
                      <a:prstDash val="solid"/>
                    </a:lnB>
                    <a:solidFill>
                      <a:srgbClr val="F6F8FB"/>
                    </a:solidFill>
                  </a:tcPr>
                </a:tc>
              </a:tr>
              <a:tr h="461963">
                <a:tc>
                  <a:txBody>
                    <a:bodyPr/>
                    <a:lstStyle/>
                    <a:p>
                      <a:r>
                        <a:rPr sz="1500" b="0">
                          <a:solidFill>
                            <a:srgbClr val="14243A"/>
                          </a:solidFill>
                          <a:latin typeface="Arial"/>
                          <a:ea typeface="Arial"/>
                          <a:cs typeface="Arial"/>
                        </a:rPr>
                        <a:t>Strong</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151</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166</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141</a:t>
                      </a:r>
                    </a:p>
                  </a:txBody>
                  <a:tcPr marL="91440" marR="91440" marT="45720" marB="45720">
                    <a:lnR w="9525">
                      <a:solidFill>
                        <a:srgbClr val="D6DEE7"/>
                      </a:solidFill>
                      <a:prstDash val="solid"/>
                    </a:lnR>
                    <a:lnB w="9525">
                      <a:solidFill>
                        <a:srgbClr val="D6DE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BF967B4-662E-42D4-B458-02C44DFC6EBE}"/>
              </a:ext>
            </a:extLst>
          </p:cNvPr>
          <p:cNvSpPr>
            <a:spLocks xmlns:a="http://schemas.openxmlformats.org/drawingml/2006/main" noGrp="1"/>
          </p:cNvSpPr>
          <p:nvPr/>
        </p:nvSpPr>
        <p:spPr>
          <a:xfrm xmlns:a="http://schemas.openxmlformats.org/drawingml/2006/main">
            <a:off x="647700" y="36195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36478"/>
                </a:solidFill>
                <a:latin typeface="Arial"/>
                <a:ea typeface="Arial"/>
                <a:cs typeface="Arial"/>
              </a:defRPr>
            </a:defPPr>
            <a:lvl1pPr>
              <a:defRPr sz="1425" b="0">
                <a:solidFill>
                  <a:srgbClr val="536478"/>
                </a:solidFill>
                <a:latin typeface="Arial"/>
                <a:ea typeface="Arial"/>
                <a:cs typeface="Arial"/>
              </a:defRPr>
            </a:lvl1pPr>
            <a:lvl2pPr>
              <a:defRPr sz="1425" b="0">
                <a:solidFill>
                  <a:srgbClr val="536478"/>
                </a:solidFill>
                <a:latin typeface="Arial"/>
                <a:ea typeface="Arial"/>
                <a:cs typeface="Arial"/>
              </a:defRPr>
            </a:lvl2pPr>
            <a:lvl3pPr>
              <a:defRPr sz="1425" b="0">
                <a:solidFill>
                  <a:srgbClr val="536478"/>
                </a:solidFill>
                <a:latin typeface="Arial"/>
                <a:ea typeface="Arial"/>
                <a:cs typeface="Arial"/>
              </a:defRPr>
            </a:lvl3pPr>
            <a:lvl4pPr>
              <a:defRPr sz="1425" b="0">
                <a:solidFill>
                  <a:srgbClr val="536478"/>
                </a:solidFill>
                <a:latin typeface="Arial"/>
                <a:ea typeface="Arial"/>
                <a:cs typeface="Arial"/>
              </a:defRPr>
            </a:lvl4pPr>
            <a:lvl5pPr>
              <a:defRPr sz="1425" b="0">
                <a:solidFill>
                  <a:srgbClr val="536478"/>
                </a:solidFill>
                <a:latin typeface="Arial"/>
                <a:ea typeface="Arial"/>
                <a:cs typeface="Arial"/>
              </a:defRPr>
            </a:lvl5pPr>
            <a:lvl6pPr>
              <a:defRPr sz="1425" b="0">
                <a:solidFill>
                  <a:srgbClr val="536478"/>
                </a:solidFill>
                <a:latin typeface="Arial"/>
                <a:ea typeface="Arial"/>
                <a:cs typeface="Arial"/>
              </a:defRPr>
            </a:lvl6pPr>
            <a:lvl7pPr>
              <a:defRPr sz="1425" b="0">
                <a:solidFill>
                  <a:srgbClr val="536478"/>
                </a:solidFill>
                <a:latin typeface="Arial"/>
                <a:ea typeface="Arial"/>
                <a:cs typeface="Arial"/>
              </a:defRPr>
            </a:lvl7pPr>
            <a:lvl8pPr>
              <a:defRPr sz="1425" b="0">
                <a:solidFill>
                  <a:srgbClr val="536478"/>
                </a:solidFill>
                <a:latin typeface="Arial"/>
                <a:ea typeface="Arial"/>
                <a:cs typeface="Arial"/>
              </a:defRPr>
            </a:lvl8pPr>
            <a:lvl9pPr>
              <a:defRPr sz="1425" b="0">
                <a:solidFill>
                  <a:srgbClr val="536478"/>
                </a:solidFill>
                <a:latin typeface="Arial"/>
                <a:ea typeface="Arial"/>
                <a:cs typeface="Arial"/>
              </a:defRPr>
            </a:lvl9pPr>
          </a:lstStyle>
          <a:p xmlns:a="http://schemas.openxmlformats.org/drawingml/2006/main">
            <a:pPr>
              <a:defRPr sz="1425" b="0">
                <a:solidFill>
                  <a:srgbClr val="536478"/>
                </a:solidFill>
                <a:latin typeface="Arial"/>
                <a:ea typeface="Arial"/>
                <a:cs typeface="Arial"/>
              </a:defRPr>
            </a:pPr>
            <a:r>
              <a:rPr sz="1425" b="0">
                <a:solidFill>
                  <a:srgbClr val="536478"/>
                </a:solidFill>
                <a:latin typeface="Arial"/>
                <a:ea typeface="Arial"/>
                <a:cs typeface="Arial"/>
              </a:rPr>
              <a:t>Advanced model confusion matrix</a:t>
            </a:r>
          </a:p>
        </p:txBody>
      </p:sp>
      <p:sp>
        <p:nvSpPr>
          <p:cNvPr id="6" name="">
            <a:extLst xmlns:a="http://schemas.openxmlformats.org/drawingml/2006/main">
              <a:ext uri="{FF2B5EF4-FFF2-40B4-BE49-F238E27FC236}">
                <a16:creationId xmlns:a16="http://schemas.microsoft.com/office/drawing/2014/main" id="{89785D4D-3C7D-4917-BAE5-577D7734EAFA}"/>
              </a:ext>
            </a:extLst>
          </p:cNvPr>
          <p:cNvSpPr>
            <a:spLocks xmlns:a="http://schemas.openxmlformats.org/drawingml/2006/main" noGrp="1"/>
          </p:cNvSpPr>
          <p:nvPr/>
        </p:nvSpPr>
        <p:spPr>
          <a:xfrm xmlns:a="http://schemas.openxmlformats.org/drawingml/2006/main">
            <a:off x="6477000" y="3952875"/>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27F76"/>
                </a:solidFill>
                <a:latin typeface="Arial"/>
                <a:ea typeface="Arial"/>
                <a:cs typeface="Arial"/>
              </a:defRPr>
            </a:defPPr>
            <a:lvl1pPr>
              <a:defRPr sz="2250" b="1">
                <a:solidFill>
                  <a:srgbClr val="127F76"/>
                </a:solidFill>
                <a:latin typeface="Arial"/>
                <a:ea typeface="Arial"/>
                <a:cs typeface="Arial"/>
              </a:defRPr>
            </a:lvl1pPr>
            <a:lvl2pPr>
              <a:defRPr sz="2250" b="1">
                <a:solidFill>
                  <a:srgbClr val="127F76"/>
                </a:solidFill>
                <a:latin typeface="Arial"/>
                <a:ea typeface="Arial"/>
                <a:cs typeface="Arial"/>
              </a:defRPr>
            </a:lvl2pPr>
            <a:lvl3pPr>
              <a:defRPr sz="2250" b="1">
                <a:solidFill>
                  <a:srgbClr val="127F76"/>
                </a:solidFill>
                <a:latin typeface="Arial"/>
                <a:ea typeface="Arial"/>
                <a:cs typeface="Arial"/>
              </a:defRPr>
            </a:lvl3pPr>
            <a:lvl4pPr>
              <a:defRPr sz="2250" b="1">
                <a:solidFill>
                  <a:srgbClr val="127F76"/>
                </a:solidFill>
                <a:latin typeface="Arial"/>
                <a:ea typeface="Arial"/>
                <a:cs typeface="Arial"/>
              </a:defRPr>
            </a:lvl4pPr>
            <a:lvl5pPr>
              <a:defRPr sz="2250" b="1">
                <a:solidFill>
                  <a:srgbClr val="127F76"/>
                </a:solidFill>
                <a:latin typeface="Arial"/>
                <a:ea typeface="Arial"/>
                <a:cs typeface="Arial"/>
              </a:defRPr>
            </a:lvl5pPr>
            <a:lvl6pPr>
              <a:defRPr sz="2250" b="1">
                <a:solidFill>
                  <a:srgbClr val="127F76"/>
                </a:solidFill>
                <a:latin typeface="Arial"/>
                <a:ea typeface="Arial"/>
                <a:cs typeface="Arial"/>
              </a:defRPr>
            </a:lvl6pPr>
            <a:lvl7pPr>
              <a:defRPr sz="2250" b="1">
                <a:solidFill>
                  <a:srgbClr val="127F76"/>
                </a:solidFill>
                <a:latin typeface="Arial"/>
                <a:ea typeface="Arial"/>
                <a:cs typeface="Arial"/>
              </a:defRPr>
            </a:lvl7pPr>
            <a:lvl8pPr>
              <a:defRPr sz="2250" b="1">
                <a:solidFill>
                  <a:srgbClr val="127F76"/>
                </a:solidFill>
                <a:latin typeface="Arial"/>
                <a:ea typeface="Arial"/>
                <a:cs typeface="Arial"/>
              </a:defRPr>
            </a:lvl8pPr>
            <a:lvl9pPr>
              <a:defRPr sz="2250" b="1">
                <a:solidFill>
                  <a:srgbClr val="127F76"/>
                </a:solidFill>
                <a:latin typeface="Arial"/>
                <a:ea typeface="Arial"/>
                <a:cs typeface="Arial"/>
              </a:defRPr>
            </a:lvl9pPr>
          </a:lstStyle>
          <a:p xmlns:a="http://schemas.openxmlformats.org/drawingml/2006/main">
            <a:pPr>
              <a:defRPr sz="2250" b="1">
                <a:solidFill>
                  <a:srgbClr val="127F76"/>
                </a:solidFill>
                <a:latin typeface="Arial"/>
                <a:ea typeface="Arial"/>
                <a:cs typeface="Arial"/>
              </a:defRPr>
            </a:pPr>
            <a:r>
              <a:rPr sz="2250" b="1">
                <a:solidFill>
                  <a:srgbClr val="127F76"/>
                </a:solidFill>
                <a:latin typeface="Arial"/>
                <a:ea typeface="Arial"/>
                <a:cs typeface="Arial"/>
              </a:rPr>
              <a:t>30.8% strong-fit recall</a:t>
            </a:r>
          </a:p>
        </p:txBody>
      </p:sp>
      <p:sp>
        <p:nvSpPr>
          <p:cNvPr id="7" name="">
            <a:extLst xmlns:a="http://schemas.openxmlformats.org/drawingml/2006/main">
              <a:ext uri="{FF2B5EF4-FFF2-40B4-BE49-F238E27FC236}">
                <a16:creationId xmlns:a16="http://schemas.microsoft.com/office/drawing/2014/main" id="{339CFF37-66B0-440B-9655-764F8220ED38}"/>
              </a:ext>
            </a:extLst>
          </p:cNvPr>
          <p:cNvSpPr>
            <a:spLocks xmlns:a="http://schemas.openxmlformats.org/drawingml/2006/main" noGrp="1"/>
          </p:cNvSpPr>
          <p:nvPr/>
        </p:nvSpPr>
        <p:spPr>
          <a:xfrm xmlns:a="http://schemas.openxmlformats.org/drawingml/2006/main">
            <a:off x="6477000" y="4648200"/>
            <a:ext cx="5048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43A"/>
                </a:solidFill>
                <a:latin typeface="Arial"/>
                <a:ea typeface="Arial"/>
                <a:cs typeface="Arial"/>
              </a:defRPr>
            </a:defPPr>
            <a:lvl1pPr>
              <a:defRPr sz="1650" b="0">
                <a:solidFill>
                  <a:srgbClr val="14243A"/>
                </a:solidFill>
                <a:latin typeface="Arial"/>
                <a:ea typeface="Arial"/>
                <a:cs typeface="Arial"/>
              </a:defRPr>
            </a:lvl1pPr>
            <a:lvl2pPr>
              <a:defRPr sz="1650" b="0">
                <a:solidFill>
                  <a:srgbClr val="14243A"/>
                </a:solidFill>
                <a:latin typeface="Arial"/>
                <a:ea typeface="Arial"/>
                <a:cs typeface="Arial"/>
              </a:defRPr>
            </a:lvl2pPr>
            <a:lvl3pPr>
              <a:defRPr sz="1650" b="0">
                <a:solidFill>
                  <a:srgbClr val="14243A"/>
                </a:solidFill>
                <a:latin typeface="Arial"/>
                <a:ea typeface="Arial"/>
                <a:cs typeface="Arial"/>
              </a:defRPr>
            </a:lvl3pPr>
            <a:lvl4pPr>
              <a:defRPr sz="1650" b="0">
                <a:solidFill>
                  <a:srgbClr val="14243A"/>
                </a:solidFill>
                <a:latin typeface="Arial"/>
                <a:ea typeface="Arial"/>
                <a:cs typeface="Arial"/>
              </a:defRPr>
            </a:lvl4pPr>
            <a:lvl5pPr>
              <a:defRPr sz="1650" b="0">
                <a:solidFill>
                  <a:srgbClr val="14243A"/>
                </a:solidFill>
                <a:latin typeface="Arial"/>
                <a:ea typeface="Arial"/>
                <a:cs typeface="Arial"/>
              </a:defRPr>
            </a:lvl5pPr>
            <a:lvl6pPr>
              <a:defRPr sz="1650" b="0">
                <a:solidFill>
                  <a:srgbClr val="14243A"/>
                </a:solidFill>
                <a:latin typeface="Arial"/>
                <a:ea typeface="Arial"/>
                <a:cs typeface="Arial"/>
              </a:defRPr>
            </a:lvl6pPr>
            <a:lvl7pPr>
              <a:defRPr sz="1650" b="0">
                <a:solidFill>
                  <a:srgbClr val="14243A"/>
                </a:solidFill>
                <a:latin typeface="Arial"/>
                <a:ea typeface="Arial"/>
                <a:cs typeface="Arial"/>
              </a:defRPr>
            </a:lvl7pPr>
            <a:lvl8pPr>
              <a:defRPr sz="1650" b="0">
                <a:solidFill>
                  <a:srgbClr val="14243A"/>
                </a:solidFill>
                <a:latin typeface="Arial"/>
                <a:ea typeface="Arial"/>
                <a:cs typeface="Arial"/>
              </a:defRPr>
            </a:lvl8pPr>
            <a:lvl9pPr>
              <a:defRPr sz="1650" b="0">
                <a:solidFill>
                  <a:srgbClr val="14243A"/>
                </a:solidFill>
                <a:latin typeface="Arial"/>
                <a:ea typeface="Arial"/>
                <a:cs typeface="Arial"/>
              </a:defRPr>
            </a:lvl9pPr>
          </a:lstStyle>
          <a:p xmlns:a="http://schemas.openxmlformats.org/drawingml/2006/main">
            <a:pPr>
              <a:defRPr sz="1650" b="0">
                <a:solidFill>
                  <a:srgbClr val="14243A"/>
                </a:solidFill>
                <a:latin typeface="Arial"/>
                <a:ea typeface="Arial"/>
                <a:cs typeface="Arial"/>
              </a:defRPr>
            </a:pPr>
            <a:r>
              <a:rPr sz="1650" b="0">
                <a:solidFill>
                  <a:srgbClr val="14243A"/>
                </a:solidFill>
                <a:latin typeface="Arial"/>
                <a:ea typeface="Arial"/>
                <a:cs typeface="Arial"/>
              </a:rPr>
              <a:t>CPU latency: 962 ms median</a:t>
            </a:r>
          </a:p>
          <a:p xmlns:a="http://schemas.openxmlformats.org/drawingml/2006/main">
            <a:pPr>
              <a:defRPr sz="1650" b="0">
                <a:solidFill>
                  <a:srgbClr val="14243A"/>
                </a:solidFill>
                <a:latin typeface="Arial"/>
                <a:ea typeface="Arial"/>
                <a:cs typeface="Arial"/>
              </a:defRPr>
            </a:pPr>
            <a:r>
              <a:rPr sz="1650" b="0">
                <a:solidFill>
                  <a:srgbClr val="14243A"/>
                </a:solidFill>
                <a:latin typeface="Arial"/>
                <a:ea typeface="Arial"/>
                <a:cs typeface="Arial"/>
              </a:rPr>
              <a:t>1740 ms p95, 20 pairs</a:t>
            </a:r>
          </a:p>
          <a:p xmlns:a="http://schemas.openxmlformats.org/drawingml/2006/main">
            <a:r>
              <a:t/>
            </a:r>
          </a:p>
          <a:p xmlns:a="http://schemas.openxmlformats.org/drawingml/2006/main">
            <a:pPr>
              <a:defRPr sz="1650" b="0">
                <a:solidFill>
                  <a:srgbClr val="14243A"/>
                </a:solidFill>
                <a:latin typeface="Arial"/>
                <a:ea typeface="Arial"/>
                <a:cs typeface="Arial"/>
              </a:defRPr>
            </a:pPr>
            <a:r>
              <a:rPr sz="1650" b="0">
                <a:solidFill>
                  <a:srgbClr val="14243A"/>
                </a:solidFill>
                <a:latin typeface="Arial"/>
                <a:ea typeface="Arial"/>
                <a:cs typeface="Arial"/>
              </a:rPr>
              <a:t>Shared resumes limit generalization claims</a:t>
            </a:r>
          </a:p>
        </p:txBody>
      </p:sp>
    </p:spTree>
    <p:extLst>
      <p:ext uri="{BB962C8B-B14F-4D97-AF65-F5344CB8AC3E}">
        <p14:creationId xmlns:p14="http://schemas.microsoft.com/office/powerpoint/2010/main" val="1999100771"/>
      </p:ext>
    </p:extLst>
  </p:cSld>
</p:sld>
</file>

<file path=ppt/slides/slide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163077-9CD1-4246-ABA1-D739E9DC5EE0}"/>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43A"/>
                </a:solidFill>
                <a:latin typeface="Arial"/>
                <a:ea typeface="Arial"/>
                <a:cs typeface="Arial"/>
              </a:defRPr>
            </a:defPPr>
            <a:lvl1pPr>
              <a:defRPr sz="3000" b="1">
                <a:solidFill>
                  <a:srgbClr val="14243A"/>
                </a:solidFill>
                <a:latin typeface="Arial"/>
                <a:ea typeface="Arial"/>
                <a:cs typeface="Arial"/>
              </a:defRPr>
            </a:lvl1pPr>
            <a:lvl2pPr>
              <a:defRPr sz="3000" b="1">
                <a:solidFill>
                  <a:srgbClr val="14243A"/>
                </a:solidFill>
                <a:latin typeface="Arial"/>
                <a:ea typeface="Arial"/>
                <a:cs typeface="Arial"/>
              </a:defRPr>
            </a:lvl2pPr>
            <a:lvl3pPr>
              <a:defRPr sz="3000" b="1">
                <a:solidFill>
                  <a:srgbClr val="14243A"/>
                </a:solidFill>
                <a:latin typeface="Arial"/>
                <a:ea typeface="Arial"/>
                <a:cs typeface="Arial"/>
              </a:defRPr>
            </a:lvl3pPr>
            <a:lvl4pPr>
              <a:defRPr sz="3000" b="1">
                <a:solidFill>
                  <a:srgbClr val="14243A"/>
                </a:solidFill>
                <a:latin typeface="Arial"/>
                <a:ea typeface="Arial"/>
                <a:cs typeface="Arial"/>
              </a:defRPr>
            </a:lvl4pPr>
            <a:lvl5pPr>
              <a:defRPr sz="3000" b="1">
                <a:solidFill>
                  <a:srgbClr val="14243A"/>
                </a:solidFill>
                <a:latin typeface="Arial"/>
                <a:ea typeface="Arial"/>
                <a:cs typeface="Arial"/>
              </a:defRPr>
            </a:lvl5pPr>
            <a:lvl6pPr>
              <a:defRPr sz="3000" b="1">
                <a:solidFill>
                  <a:srgbClr val="14243A"/>
                </a:solidFill>
                <a:latin typeface="Arial"/>
                <a:ea typeface="Arial"/>
                <a:cs typeface="Arial"/>
              </a:defRPr>
            </a:lvl6pPr>
            <a:lvl7pPr>
              <a:defRPr sz="3000" b="1">
                <a:solidFill>
                  <a:srgbClr val="14243A"/>
                </a:solidFill>
                <a:latin typeface="Arial"/>
                <a:ea typeface="Arial"/>
                <a:cs typeface="Arial"/>
              </a:defRPr>
            </a:lvl7pPr>
            <a:lvl8pPr>
              <a:defRPr sz="3000" b="1">
                <a:solidFill>
                  <a:srgbClr val="14243A"/>
                </a:solidFill>
                <a:latin typeface="Arial"/>
                <a:ea typeface="Arial"/>
                <a:cs typeface="Arial"/>
              </a:defRPr>
            </a:lvl8pPr>
            <a:lvl9pPr>
              <a:defRPr sz="3000" b="1">
                <a:solidFill>
                  <a:srgbClr val="14243A"/>
                </a:solidFill>
                <a:latin typeface="Arial"/>
                <a:ea typeface="Arial"/>
                <a:cs typeface="Arial"/>
              </a:defRPr>
            </a:lvl9pPr>
          </a:lstStyle>
          <a:p xmlns:a="http://schemas.openxmlformats.org/drawingml/2006/main">
            <a:pPr>
              <a:defRPr sz="3000" b="1">
                <a:solidFill>
                  <a:srgbClr val="14243A"/>
                </a:solidFill>
                <a:latin typeface="Arial"/>
                <a:ea typeface="Arial"/>
                <a:cs typeface="Arial"/>
              </a:defRPr>
            </a:pPr>
            <a:r>
              <a:rPr sz="3000" b="1">
                <a:solidFill>
                  <a:srgbClr val="14243A"/>
                </a:solidFill>
                <a:latin typeface="Arial"/>
                <a:ea typeface="Arial"/>
                <a:cs typeface="Arial"/>
              </a:rPr>
              <a:t>Deployment demo and inference</a:t>
            </a:r>
          </a:p>
        </p:txBody>
      </p:sp>
      <p:sp>
        <p:nvSpPr>
          <p:cNvPr id="2" name="">
            <a:extLst xmlns:a="http://schemas.openxmlformats.org/drawingml/2006/main">
              <a:ext uri="{FF2B5EF4-FFF2-40B4-BE49-F238E27FC236}">
                <a16:creationId xmlns:a16="http://schemas.microsoft.com/office/drawing/2014/main" id="{489BE0D0-6890-46F2-A7A8-F3F6F3325AB2}"/>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478"/>
                </a:solidFill>
                <a:latin typeface="Arial"/>
                <a:ea typeface="Arial"/>
                <a:cs typeface="Arial"/>
              </a:defRPr>
            </a:defPPr>
            <a:lvl1pPr>
              <a:defRPr sz="1050" b="0">
                <a:solidFill>
                  <a:srgbClr val="536478"/>
                </a:solidFill>
                <a:latin typeface="Arial"/>
                <a:ea typeface="Arial"/>
                <a:cs typeface="Arial"/>
              </a:defRPr>
            </a:lvl1pPr>
            <a:lvl2pPr>
              <a:defRPr sz="1050" b="0">
                <a:solidFill>
                  <a:srgbClr val="536478"/>
                </a:solidFill>
                <a:latin typeface="Arial"/>
                <a:ea typeface="Arial"/>
                <a:cs typeface="Arial"/>
              </a:defRPr>
            </a:lvl2pPr>
            <a:lvl3pPr>
              <a:defRPr sz="1050" b="0">
                <a:solidFill>
                  <a:srgbClr val="536478"/>
                </a:solidFill>
                <a:latin typeface="Arial"/>
                <a:ea typeface="Arial"/>
                <a:cs typeface="Arial"/>
              </a:defRPr>
            </a:lvl3pPr>
            <a:lvl4pPr>
              <a:defRPr sz="1050" b="0">
                <a:solidFill>
                  <a:srgbClr val="536478"/>
                </a:solidFill>
                <a:latin typeface="Arial"/>
                <a:ea typeface="Arial"/>
                <a:cs typeface="Arial"/>
              </a:defRPr>
            </a:lvl4pPr>
            <a:lvl5pPr>
              <a:defRPr sz="1050" b="0">
                <a:solidFill>
                  <a:srgbClr val="536478"/>
                </a:solidFill>
                <a:latin typeface="Arial"/>
                <a:ea typeface="Arial"/>
                <a:cs typeface="Arial"/>
              </a:defRPr>
            </a:lvl5pPr>
            <a:lvl6pPr>
              <a:defRPr sz="1050" b="0">
                <a:solidFill>
                  <a:srgbClr val="536478"/>
                </a:solidFill>
                <a:latin typeface="Arial"/>
                <a:ea typeface="Arial"/>
                <a:cs typeface="Arial"/>
              </a:defRPr>
            </a:lvl6pPr>
            <a:lvl7pPr>
              <a:defRPr sz="1050" b="0">
                <a:solidFill>
                  <a:srgbClr val="536478"/>
                </a:solidFill>
                <a:latin typeface="Arial"/>
                <a:ea typeface="Arial"/>
                <a:cs typeface="Arial"/>
              </a:defRPr>
            </a:lvl7pPr>
            <a:lvl8pPr>
              <a:defRPr sz="1050" b="0">
                <a:solidFill>
                  <a:srgbClr val="536478"/>
                </a:solidFill>
                <a:latin typeface="Arial"/>
                <a:ea typeface="Arial"/>
                <a:cs typeface="Arial"/>
              </a:defRPr>
            </a:lvl8pPr>
            <a:lvl9pPr>
              <a:defRPr sz="1050" b="0">
                <a:solidFill>
                  <a:srgbClr val="536478"/>
                </a:solidFill>
                <a:latin typeface="Arial"/>
                <a:ea typeface="Arial"/>
                <a:cs typeface="Arial"/>
              </a:defRPr>
            </a:lvl9pPr>
          </a:lstStyle>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HeroVired AI/ML Capstone · Sanket Toche · 7/8</a:t>
            </a:r>
          </a:p>
        </p:txBody>
      </p:sp>
      <p:graphicFrame>
        <p:nvGraphicFramePr>
          <p:cNvPr id="3" name="">
            <a:extLst xmlns:a="http://schemas.openxmlformats.org/drawingml/2006/main">
              <a:ext uri="{FF2B5EF4-FFF2-40B4-BE49-F238E27FC236}">
                <a16:creationId xmlns:a16="http://schemas.microsoft.com/office/drawing/2014/main" id="{6308EC42-7509-435A-967F-71ED9282B518}"/>
              </a:ext>
            </a:extLst>
          </p:cNvPr>
          <p:cNvGraphicFramePr/>
          <p:nvPr/>
        </p:nvGraphicFramePr>
        <p:xfrm>
          <a:off xmlns:a="http://schemas.openxmlformats.org/drawingml/2006/main" x="647700" y="1571625"/>
          <a:ext xmlns:a="http://schemas.openxmlformats.org/drawingml/2006/main" cx="10896600" cy="2143125"/>
        </p:xfrm>
        <a:graphic xmlns:a="http://schemas.openxmlformats.org/drawingml/2006/main">
          <a:graphicData uri="http://schemas.openxmlformats.org/drawingml/2006/table">
            <a:tbl>
              <a:tblPr/>
              <a:tblGrid>
                <a:gridCol w="4953000"/>
                <a:gridCol w="3524250"/>
                <a:gridCol w="2419350"/>
              </a:tblGrid>
              <a:tr h="535781">
                <a:tc>
                  <a:txBody>
                    <a:bodyPr/>
                    <a:lstStyle/>
                    <a:p>
                      <a:r>
                        <a:rPr sz="1500" b="1">
                          <a:solidFill>
                            <a:srgbClr val="FFFFFF"/>
                          </a:solidFill>
                          <a:latin typeface="Arial"/>
                          <a:ea typeface="Arial"/>
                          <a:cs typeface="Arial"/>
                        </a:rPr>
                        <a:t>Example</a:t>
                      </a:r>
                    </a:p>
                  </a:txBody>
                  <a:tcPr marL="91440" marR="91440" marT="45720" marB="45720">
                    <a:lnL w="9525">
                      <a:solidFill>
                        <a:srgbClr val="D6DEE7"/>
                      </a:solidFill>
                      <a:prstDash val="solid"/>
                    </a:lnL>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Predicted fit</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c>
                  <a:txBody>
                    <a:bodyPr/>
                    <a:lstStyle/>
                    <a:p>
                      <a:r>
                        <a:rPr sz="1500" b="1">
                          <a:solidFill>
                            <a:srgbClr val="FFFFFF"/>
                          </a:solidFill>
                          <a:latin typeface="Arial"/>
                          <a:ea typeface="Arial"/>
                          <a:cs typeface="Arial"/>
                        </a:rPr>
                        <a:t>Priority</a:t>
                      </a:r>
                    </a:p>
                  </a:txBody>
                  <a:tcPr marL="91440" marR="91440" marT="45720" marB="45720">
                    <a:lnR w="9525">
                      <a:solidFill>
                        <a:srgbClr val="D6DEE7"/>
                      </a:solidFill>
                      <a:prstDash val="solid"/>
                    </a:lnR>
                    <a:lnT w="9525">
                      <a:solidFill>
                        <a:srgbClr val="D6DEE7"/>
                      </a:solidFill>
                      <a:prstDash val="solid"/>
                    </a:lnT>
                    <a:lnB w="9525">
                      <a:solidFill>
                        <a:srgbClr val="D6DEE7"/>
                      </a:solidFill>
                      <a:prstDash val="solid"/>
                    </a:lnB>
                    <a:solidFill>
                      <a:srgbClr val="14243A"/>
                    </a:solidFill>
                  </a:tcPr>
                </a:tc>
              </a:tr>
              <a:tr h="535781">
                <a:tc>
                  <a:txBody>
                    <a:bodyPr/>
                    <a:lstStyle/>
                    <a:p>
                      <a:r>
                        <a:rPr sz="1500" b="0">
                          <a:solidFill>
                            <a:srgbClr val="14243A"/>
                          </a:solidFill>
                          <a:latin typeface="Arial"/>
                          <a:ea typeface="Arial"/>
                          <a:cs typeface="Arial"/>
                        </a:rPr>
                        <a:t>Relevant ML experience</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potential fit</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79.9</a:t>
                      </a:r>
                    </a:p>
                  </a:txBody>
                  <a:tcPr marL="91440" marR="91440" marT="45720" marB="45720">
                    <a:lnR w="9525">
                      <a:solidFill>
                        <a:srgbClr val="D6DEE7"/>
                      </a:solidFill>
                      <a:prstDash val="solid"/>
                    </a:lnR>
                    <a:lnB w="9525">
                      <a:solidFill>
                        <a:srgbClr val="D6DEE7"/>
                      </a:solidFill>
                      <a:prstDash val="solid"/>
                    </a:lnB>
                    <a:solidFill>
                      <a:srgbClr val="FFFFFF"/>
                    </a:solidFill>
                  </a:tcPr>
                </a:tc>
              </a:tr>
              <a:tr h="535781">
                <a:tc>
                  <a:txBody>
                    <a:bodyPr/>
                    <a:lstStyle/>
                    <a:p>
                      <a:r>
                        <a:rPr sz="1500" b="0">
                          <a:solidFill>
                            <a:srgbClr val="14243A"/>
                          </a:solidFill>
                          <a:latin typeface="Arial"/>
                          <a:ea typeface="Arial"/>
                          <a:cs typeface="Arial"/>
                        </a:rPr>
                        <a:t>Partial analytics experience</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low fit</a:t>
                      </a:r>
                    </a:p>
                  </a:txBody>
                  <a:tcPr marL="91440" marR="91440" marT="45720" marB="45720">
                    <a:lnR w="9525">
                      <a:solidFill>
                        <a:srgbClr val="D6DEE7"/>
                      </a:solidFill>
                      <a:prstDash val="solid"/>
                    </a:lnR>
                    <a:lnB w="9525">
                      <a:solidFill>
                        <a:srgbClr val="D6DEE7"/>
                      </a:solidFill>
                      <a:prstDash val="solid"/>
                    </a:lnB>
                    <a:solidFill>
                      <a:srgbClr val="F6F8FB"/>
                    </a:solidFill>
                  </a:tcPr>
                </a:tc>
                <a:tc>
                  <a:txBody>
                    <a:bodyPr/>
                    <a:lstStyle/>
                    <a:p>
                      <a:r>
                        <a:rPr sz="1500" b="0">
                          <a:solidFill>
                            <a:srgbClr val="14243A"/>
                          </a:solidFill>
                          <a:latin typeface="Arial"/>
                          <a:ea typeface="Arial"/>
                          <a:cs typeface="Arial"/>
                        </a:rPr>
                        <a:t>32.9</a:t>
                      </a:r>
                    </a:p>
                  </a:txBody>
                  <a:tcPr marL="91440" marR="91440" marT="45720" marB="45720">
                    <a:lnR w="9525">
                      <a:solidFill>
                        <a:srgbClr val="D6DEE7"/>
                      </a:solidFill>
                      <a:prstDash val="solid"/>
                    </a:lnR>
                    <a:lnB w="9525">
                      <a:solidFill>
                        <a:srgbClr val="D6DEE7"/>
                      </a:solidFill>
                      <a:prstDash val="solid"/>
                    </a:lnB>
                    <a:solidFill>
                      <a:srgbClr val="F6F8FB"/>
                    </a:solidFill>
                  </a:tcPr>
                </a:tc>
              </a:tr>
              <a:tr h="535781">
                <a:tc>
                  <a:txBody>
                    <a:bodyPr/>
                    <a:lstStyle/>
                    <a:p>
                      <a:r>
                        <a:rPr sz="1500" b="0">
                          <a:solidFill>
                            <a:srgbClr val="14243A"/>
                          </a:solidFill>
                          <a:latin typeface="Arial"/>
                          <a:ea typeface="Arial"/>
                          <a:cs typeface="Arial"/>
                        </a:rPr>
                        <a:t>Unrelated design experience</a:t>
                      </a:r>
                    </a:p>
                  </a:txBody>
                  <a:tcPr marL="91440" marR="91440" marT="45720" marB="45720">
                    <a:lnL w="9525">
                      <a:solidFill>
                        <a:srgbClr val="D6DEE7"/>
                      </a:solidFill>
                      <a:prstDash val="solid"/>
                    </a:lnL>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potential fit</a:t>
                      </a:r>
                    </a:p>
                  </a:txBody>
                  <a:tcPr marL="91440" marR="91440" marT="45720" marB="45720">
                    <a:lnR w="9525">
                      <a:solidFill>
                        <a:srgbClr val="D6DEE7"/>
                      </a:solidFill>
                      <a:prstDash val="solid"/>
                    </a:lnR>
                    <a:lnB w="9525">
                      <a:solidFill>
                        <a:srgbClr val="D6DEE7"/>
                      </a:solidFill>
                      <a:prstDash val="solid"/>
                    </a:lnB>
                    <a:solidFill>
                      <a:srgbClr val="FFFFFF"/>
                    </a:solidFill>
                  </a:tcPr>
                </a:tc>
                <a:tc>
                  <a:txBody>
                    <a:bodyPr/>
                    <a:lstStyle/>
                    <a:p>
                      <a:r>
                        <a:rPr sz="1500" b="0">
                          <a:solidFill>
                            <a:srgbClr val="14243A"/>
                          </a:solidFill>
                          <a:latin typeface="Arial"/>
                          <a:ea typeface="Arial"/>
                          <a:cs typeface="Arial"/>
                        </a:rPr>
                        <a:t>20.8</a:t>
                      </a:r>
                    </a:p>
                  </a:txBody>
                  <a:tcPr marL="91440" marR="91440" marT="45720" marB="45720">
                    <a:lnR w="9525">
                      <a:solidFill>
                        <a:srgbClr val="D6DEE7"/>
                      </a:solidFill>
                      <a:prstDash val="solid"/>
                    </a:lnR>
                    <a:lnB w="9525">
                      <a:solidFill>
                        <a:srgbClr val="D6DE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E245738-853F-44BC-A4AD-632090E166B2}"/>
              </a:ext>
            </a:extLst>
          </p:cNvPr>
          <p:cNvSpPr>
            <a:spLocks xmlns:a="http://schemas.openxmlformats.org/drawingml/2006/main" noGrp="1"/>
          </p:cNvSpPr>
          <p:nvPr/>
        </p:nvSpPr>
        <p:spPr>
          <a:xfrm xmlns:a="http://schemas.openxmlformats.org/drawingml/2006/main">
            <a:off x="647700" y="37719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36478"/>
                </a:solidFill>
                <a:latin typeface="Arial"/>
                <a:ea typeface="Arial"/>
                <a:cs typeface="Arial"/>
              </a:defRPr>
            </a:defPPr>
            <a:lvl1pPr>
              <a:defRPr sz="1425" b="0">
                <a:solidFill>
                  <a:srgbClr val="536478"/>
                </a:solidFill>
                <a:latin typeface="Arial"/>
                <a:ea typeface="Arial"/>
                <a:cs typeface="Arial"/>
              </a:defRPr>
            </a:lvl1pPr>
            <a:lvl2pPr>
              <a:defRPr sz="1425" b="0">
                <a:solidFill>
                  <a:srgbClr val="536478"/>
                </a:solidFill>
                <a:latin typeface="Arial"/>
                <a:ea typeface="Arial"/>
                <a:cs typeface="Arial"/>
              </a:defRPr>
            </a:lvl2pPr>
            <a:lvl3pPr>
              <a:defRPr sz="1425" b="0">
                <a:solidFill>
                  <a:srgbClr val="536478"/>
                </a:solidFill>
                <a:latin typeface="Arial"/>
                <a:ea typeface="Arial"/>
                <a:cs typeface="Arial"/>
              </a:defRPr>
            </a:lvl3pPr>
            <a:lvl4pPr>
              <a:defRPr sz="1425" b="0">
                <a:solidFill>
                  <a:srgbClr val="536478"/>
                </a:solidFill>
                <a:latin typeface="Arial"/>
                <a:ea typeface="Arial"/>
                <a:cs typeface="Arial"/>
              </a:defRPr>
            </a:lvl4pPr>
            <a:lvl5pPr>
              <a:defRPr sz="1425" b="0">
                <a:solidFill>
                  <a:srgbClr val="536478"/>
                </a:solidFill>
                <a:latin typeface="Arial"/>
                <a:ea typeface="Arial"/>
                <a:cs typeface="Arial"/>
              </a:defRPr>
            </a:lvl5pPr>
            <a:lvl6pPr>
              <a:defRPr sz="1425" b="0">
                <a:solidFill>
                  <a:srgbClr val="536478"/>
                </a:solidFill>
                <a:latin typeface="Arial"/>
                <a:ea typeface="Arial"/>
                <a:cs typeface="Arial"/>
              </a:defRPr>
            </a:lvl6pPr>
            <a:lvl7pPr>
              <a:defRPr sz="1425" b="0">
                <a:solidFill>
                  <a:srgbClr val="536478"/>
                </a:solidFill>
                <a:latin typeface="Arial"/>
                <a:ea typeface="Arial"/>
                <a:cs typeface="Arial"/>
              </a:defRPr>
            </a:lvl7pPr>
            <a:lvl8pPr>
              <a:defRPr sz="1425" b="0">
                <a:solidFill>
                  <a:srgbClr val="536478"/>
                </a:solidFill>
                <a:latin typeface="Arial"/>
                <a:ea typeface="Arial"/>
                <a:cs typeface="Arial"/>
              </a:defRPr>
            </a:lvl8pPr>
            <a:lvl9pPr>
              <a:defRPr sz="1425" b="0">
                <a:solidFill>
                  <a:srgbClr val="536478"/>
                </a:solidFill>
                <a:latin typeface="Arial"/>
                <a:ea typeface="Arial"/>
                <a:cs typeface="Arial"/>
              </a:defRPr>
            </a:lvl9pPr>
          </a:lstStyle>
          <a:p xmlns:a="http://schemas.openxmlformats.org/drawingml/2006/main">
            <a:pPr>
              <a:defRPr sz="1425" b="0">
                <a:solidFill>
                  <a:srgbClr val="536478"/>
                </a:solidFill>
                <a:latin typeface="Arial"/>
                <a:ea typeface="Arial"/>
                <a:cs typeface="Arial"/>
              </a:defRPr>
            </a:pPr>
            <a:r>
              <a:rPr sz="1425" b="0">
                <a:solidFill>
                  <a:srgbClr val="536478"/>
                </a:solidFill>
                <a:latin typeface="Arial"/>
                <a:ea typeface="Arial"/>
                <a:cs typeface="Arial"/>
              </a:rPr>
              <a:t>Composite rank and classifier category are separate. Short inputs show warnings.</a:t>
            </a:r>
          </a:p>
        </p:txBody>
      </p:sp>
      <p:sp>
        <p:nvSpPr>
          <p:cNvPr id="5" name="">
            <a:extLst xmlns:a="http://schemas.openxmlformats.org/drawingml/2006/main">
              <a:ext uri="{FF2B5EF4-FFF2-40B4-BE49-F238E27FC236}">
                <a16:creationId xmlns:a16="http://schemas.microsoft.com/office/drawing/2014/main" id="{AC96BA43-E33D-4E3D-8793-15AF39F8D8D4}"/>
              </a:ext>
            </a:extLst>
          </p:cNvPr>
          <p:cNvSpPr>
            <a:spLocks xmlns:a="http://schemas.openxmlformats.org/drawingml/2006/main" noGrp="1"/>
          </p:cNvSpPr>
          <p:nvPr/>
        </p:nvSpPr>
        <p:spPr>
          <a:xfrm xmlns:a="http://schemas.openxmlformats.org/drawingml/2006/main">
            <a:off x="647700" y="40767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7F76"/>
                </a:solidFill>
                <a:latin typeface="Arial"/>
                <a:ea typeface="Arial"/>
                <a:cs typeface="Arial"/>
              </a:defRPr>
            </a:defPPr>
            <a:lvl1pPr>
              <a:defRPr sz="2100" b="1">
                <a:solidFill>
                  <a:srgbClr val="127F76"/>
                </a:solidFill>
                <a:latin typeface="Arial"/>
                <a:ea typeface="Arial"/>
                <a:cs typeface="Arial"/>
              </a:defRPr>
            </a:lvl1pPr>
            <a:lvl2pPr>
              <a:defRPr sz="2100" b="1">
                <a:solidFill>
                  <a:srgbClr val="127F76"/>
                </a:solidFill>
                <a:latin typeface="Arial"/>
                <a:ea typeface="Arial"/>
                <a:cs typeface="Arial"/>
              </a:defRPr>
            </a:lvl2pPr>
            <a:lvl3pPr>
              <a:defRPr sz="2100" b="1">
                <a:solidFill>
                  <a:srgbClr val="127F76"/>
                </a:solidFill>
                <a:latin typeface="Arial"/>
                <a:ea typeface="Arial"/>
                <a:cs typeface="Arial"/>
              </a:defRPr>
            </a:lvl3pPr>
            <a:lvl4pPr>
              <a:defRPr sz="2100" b="1">
                <a:solidFill>
                  <a:srgbClr val="127F76"/>
                </a:solidFill>
                <a:latin typeface="Arial"/>
                <a:ea typeface="Arial"/>
                <a:cs typeface="Arial"/>
              </a:defRPr>
            </a:lvl4pPr>
            <a:lvl5pPr>
              <a:defRPr sz="2100" b="1">
                <a:solidFill>
                  <a:srgbClr val="127F76"/>
                </a:solidFill>
                <a:latin typeface="Arial"/>
                <a:ea typeface="Arial"/>
                <a:cs typeface="Arial"/>
              </a:defRPr>
            </a:lvl5pPr>
            <a:lvl6pPr>
              <a:defRPr sz="2100" b="1">
                <a:solidFill>
                  <a:srgbClr val="127F76"/>
                </a:solidFill>
                <a:latin typeface="Arial"/>
                <a:ea typeface="Arial"/>
                <a:cs typeface="Arial"/>
              </a:defRPr>
            </a:lvl6pPr>
            <a:lvl7pPr>
              <a:defRPr sz="2100" b="1">
                <a:solidFill>
                  <a:srgbClr val="127F76"/>
                </a:solidFill>
                <a:latin typeface="Arial"/>
                <a:ea typeface="Arial"/>
                <a:cs typeface="Arial"/>
              </a:defRPr>
            </a:lvl7pPr>
            <a:lvl8pPr>
              <a:defRPr sz="2100" b="1">
                <a:solidFill>
                  <a:srgbClr val="127F76"/>
                </a:solidFill>
                <a:latin typeface="Arial"/>
                <a:ea typeface="Arial"/>
                <a:cs typeface="Arial"/>
              </a:defRPr>
            </a:lvl8pPr>
            <a:lvl9pPr>
              <a:defRPr sz="2100" b="1">
                <a:solidFill>
                  <a:srgbClr val="127F76"/>
                </a:solidFill>
                <a:latin typeface="Arial"/>
                <a:ea typeface="Arial"/>
                <a:cs typeface="Arial"/>
              </a:defRPr>
            </a:lvl9pPr>
          </a:lstStyle>
          <a:p xmlns:a="http://schemas.openxmlformats.org/drawingml/2006/main">
            <a:pPr>
              <a:defRPr sz="2100" b="1">
                <a:solidFill>
                  <a:srgbClr val="127F76"/>
                </a:solidFill>
                <a:latin typeface="Arial"/>
                <a:ea typeface="Arial"/>
                <a:cs typeface="Arial"/>
              </a:defRPr>
            </a:pPr>
            <a:r>
              <a:rPr sz="2100" b="1">
                <a:solidFill>
                  <a:srgbClr val="127F76"/>
                </a:solidFill>
                <a:latin typeface="Arial"/>
                <a:ea typeface="Arial"/>
                <a:cs typeface="Arial"/>
              </a:rPr>
              <a:t>Live workflow</a:t>
            </a:r>
          </a:p>
        </p:txBody>
      </p:sp>
      <p:sp>
        <p:nvSpPr>
          <p:cNvPr id="6" name="">
            <a:extLst xmlns:a="http://schemas.openxmlformats.org/drawingml/2006/main">
              <a:ext uri="{FF2B5EF4-FFF2-40B4-BE49-F238E27FC236}">
                <a16:creationId xmlns:a16="http://schemas.microsoft.com/office/drawing/2014/main" id="{8021B5C6-FA83-460C-BFC1-4015D3E791C4}"/>
              </a:ext>
            </a:extLst>
          </p:cNvPr>
          <p:cNvSpPr>
            <a:spLocks xmlns:a="http://schemas.openxmlformats.org/drawingml/2006/main" noGrp="1"/>
          </p:cNvSpPr>
          <p:nvPr/>
        </p:nvSpPr>
        <p:spPr>
          <a:xfrm xmlns:a="http://schemas.openxmlformats.org/drawingml/2006/main">
            <a:off x="647700" y="467677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43A"/>
                </a:solidFill>
                <a:latin typeface="Arial"/>
                <a:ea typeface="Arial"/>
                <a:cs typeface="Arial"/>
              </a:defRPr>
            </a:defPPr>
            <a:lvl1pPr>
              <a:defRPr sz="1875" b="0">
                <a:solidFill>
                  <a:srgbClr val="14243A"/>
                </a:solidFill>
                <a:latin typeface="Arial"/>
                <a:ea typeface="Arial"/>
                <a:cs typeface="Arial"/>
              </a:defRPr>
            </a:lvl1pPr>
            <a:lvl2pPr>
              <a:defRPr sz="1875" b="0">
                <a:solidFill>
                  <a:srgbClr val="14243A"/>
                </a:solidFill>
                <a:latin typeface="Arial"/>
                <a:ea typeface="Arial"/>
                <a:cs typeface="Arial"/>
              </a:defRPr>
            </a:lvl2pPr>
            <a:lvl3pPr>
              <a:defRPr sz="1875" b="0">
                <a:solidFill>
                  <a:srgbClr val="14243A"/>
                </a:solidFill>
                <a:latin typeface="Arial"/>
                <a:ea typeface="Arial"/>
                <a:cs typeface="Arial"/>
              </a:defRPr>
            </a:lvl3pPr>
            <a:lvl4pPr>
              <a:defRPr sz="1875" b="0">
                <a:solidFill>
                  <a:srgbClr val="14243A"/>
                </a:solidFill>
                <a:latin typeface="Arial"/>
                <a:ea typeface="Arial"/>
                <a:cs typeface="Arial"/>
              </a:defRPr>
            </a:lvl4pPr>
            <a:lvl5pPr>
              <a:defRPr sz="1875" b="0">
                <a:solidFill>
                  <a:srgbClr val="14243A"/>
                </a:solidFill>
                <a:latin typeface="Arial"/>
                <a:ea typeface="Arial"/>
                <a:cs typeface="Arial"/>
              </a:defRPr>
            </a:lvl5pPr>
            <a:lvl6pPr>
              <a:defRPr sz="1875" b="0">
                <a:solidFill>
                  <a:srgbClr val="14243A"/>
                </a:solidFill>
                <a:latin typeface="Arial"/>
                <a:ea typeface="Arial"/>
                <a:cs typeface="Arial"/>
              </a:defRPr>
            </a:lvl6pPr>
            <a:lvl7pPr>
              <a:defRPr sz="1875" b="0">
                <a:solidFill>
                  <a:srgbClr val="14243A"/>
                </a:solidFill>
                <a:latin typeface="Arial"/>
                <a:ea typeface="Arial"/>
                <a:cs typeface="Arial"/>
              </a:defRPr>
            </a:lvl7pPr>
            <a:lvl8pPr>
              <a:defRPr sz="1875" b="0">
                <a:solidFill>
                  <a:srgbClr val="14243A"/>
                </a:solidFill>
                <a:latin typeface="Arial"/>
                <a:ea typeface="Arial"/>
                <a:cs typeface="Arial"/>
              </a:defRPr>
            </a:lvl8pPr>
            <a:lvl9pPr>
              <a:defRPr sz="1875" b="0">
                <a:solidFill>
                  <a:srgbClr val="14243A"/>
                </a:solidFill>
                <a:latin typeface="Arial"/>
                <a:ea typeface="Arial"/>
                <a:cs typeface="Arial"/>
              </a:defRPr>
            </a:lvl9pPr>
          </a:lstStyle>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launch_dashboard.cmd</a:t>
            </a:r>
          </a:p>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Paste JD and resumes, then rank</a:t>
            </a:r>
          </a:p>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Download the ranking CSV</a:t>
            </a:r>
          </a:p>
        </p:txBody>
      </p:sp>
      <p:sp>
        <p:nvSpPr>
          <p:cNvPr id="7" name="">
            <a:extLst xmlns:a="http://schemas.openxmlformats.org/drawingml/2006/main">
              <a:ext uri="{FF2B5EF4-FFF2-40B4-BE49-F238E27FC236}">
                <a16:creationId xmlns:a16="http://schemas.microsoft.com/office/drawing/2014/main" id="{3DA8EBAC-FED0-4223-BFC9-284CE13DF58F}"/>
              </a:ext>
            </a:extLst>
          </p:cNvPr>
          <p:cNvSpPr>
            <a:spLocks xmlns:a="http://schemas.openxmlformats.org/drawingml/2006/main" noGrp="1"/>
          </p:cNvSpPr>
          <p:nvPr/>
        </p:nvSpPr>
        <p:spPr>
          <a:xfrm xmlns:a="http://schemas.openxmlformats.org/drawingml/2006/main">
            <a:off x="6381750" y="407670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43A"/>
                </a:solidFill>
                <a:latin typeface="Arial"/>
                <a:ea typeface="Arial"/>
                <a:cs typeface="Arial"/>
              </a:defRPr>
            </a:defPPr>
            <a:lvl1pPr>
              <a:defRPr sz="2025" b="1">
                <a:solidFill>
                  <a:srgbClr val="14243A"/>
                </a:solidFill>
                <a:latin typeface="Arial"/>
                <a:ea typeface="Arial"/>
                <a:cs typeface="Arial"/>
              </a:defRPr>
            </a:lvl1pPr>
            <a:lvl2pPr>
              <a:defRPr sz="2025" b="1">
                <a:solidFill>
                  <a:srgbClr val="14243A"/>
                </a:solidFill>
                <a:latin typeface="Arial"/>
                <a:ea typeface="Arial"/>
                <a:cs typeface="Arial"/>
              </a:defRPr>
            </a:lvl2pPr>
            <a:lvl3pPr>
              <a:defRPr sz="2025" b="1">
                <a:solidFill>
                  <a:srgbClr val="14243A"/>
                </a:solidFill>
                <a:latin typeface="Arial"/>
                <a:ea typeface="Arial"/>
                <a:cs typeface="Arial"/>
              </a:defRPr>
            </a:lvl3pPr>
            <a:lvl4pPr>
              <a:defRPr sz="2025" b="1">
                <a:solidFill>
                  <a:srgbClr val="14243A"/>
                </a:solidFill>
                <a:latin typeface="Arial"/>
                <a:ea typeface="Arial"/>
                <a:cs typeface="Arial"/>
              </a:defRPr>
            </a:lvl4pPr>
            <a:lvl5pPr>
              <a:defRPr sz="2025" b="1">
                <a:solidFill>
                  <a:srgbClr val="14243A"/>
                </a:solidFill>
                <a:latin typeface="Arial"/>
                <a:ea typeface="Arial"/>
                <a:cs typeface="Arial"/>
              </a:defRPr>
            </a:lvl5pPr>
            <a:lvl6pPr>
              <a:defRPr sz="2025" b="1">
                <a:solidFill>
                  <a:srgbClr val="14243A"/>
                </a:solidFill>
                <a:latin typeface="Arial"/>
                <a:ea typeface="Arial"/>
                <a:cs typeface="Arial"/>
              </a:defRPr>
            </a:lvl6pPr>
            <a:lvl7pPr>
              <a:defRPr sz="2025" b="1">
                <a:solidFill>
                  <a:srgbClr val="14243A"/>
                </a:solidFill>
                <a:latin typeface="Arial"/>
                <a:ea typeface="Arial"/>
                <a:cs typeface="Arial"/>
              </a:defRPr>
            </a:lvl7pPr>
            <a:lvl8pPr>
              <a:defRPr sz="2025" b="1">
                <a:solidFill>
                  <a:srgbClr val="14243A"/>
                </a:solidFill>
                <a:latin typeface="Arial"/>
                <a:ea typeface="Arial"/>
                <a:cs typeface="Arial"/>
              </a:defRPr>
            </a:lvl8pPr>
            <a:lvl9pPr>
              <a:defRPr sz="2025" b="1">
                <a:solidFill>
                  <a:srgbClr val="14243A"/>
                </a:solidFill>
                <a:latin typeface="Arial"/>
                <a:ea typeface="Arial"/>
                <a:cs typeface="Arial"/>
              </a:defRPr>
            </a:lvl9pPr>
          </a:lstStyle>
          <a:p xmlns:a="http://schemas.openxmlformats.org/drawingml/2006/main">
            <a:pPr>
              <a:defRPr sz="2025" b="1">
                <a:solidFill>
                  <a:srgbClr val="14243A"/>
                </a:solidFill>
                <a:latin typeface="Arial"/>
                <a:ea typeface="Arial"/>
                <a:cs typeface="Arial"/>
              </a:defRPr>
            </a:pPr>
            <a:r>
              <a:rPr sz="2025" b="1">
                <a:solidFill>
                  <a:srgbClr val="14243A"/>
                </a:solidFill>
                <a:latin typeface="Arial"/>
                <a:ea typeface="Arial"/>
                <a:cs typeface="Arial"/>
              </a:rPr>
              <a:t>Known failure: keyword-only resume</a:t>
            </a:r>
          </a:p>
        </p:txBody>
      </p:sp>
      <p:sp>
        <p:nvSpPr>
          <p:cNvPr id="8" name="">
            <a:extLst xmlns:a="http://schemas.openxmlformats.org/drawingml/2006/main">
              <a:ext uri="{FF2B5EF4-FFF2-40B4-BE49-F238E27FC236}">
                <a16:creationId xmlns:a16="http://schemas.microsoft.com/office/drawing/2014/main" id="{64B7096A-352A-4B4B-A93B-5B56B8CBEC07}"/>
              </a:ext>
            </a:extLst>
          </p:cNvPr>
          <p:cNvSpPr>
            <a:spLocks xmlns:a="http://schemas.openxmlformats.org/drawingml/2006/main" noGrp="1"/>
          </p:cNvSpPr>
          <p:nvPr/>
        </p:nvSpPr>
        <p:spPr>
          <a:xfrm xmlns:a="http://schemas.openxmlformats.org/drawingml/2006/main">
            <a:off x="6381750" y="4810125"/>
            <a:ext cx="5143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43A"/>
                </a:solidFill>
                <a:latin typeface="Arial"/>
                <a:ea typeface="Arial"/>
                <a:cs typeface="Arial"/>
              </a:defRPr>
            </a:defPPr>
            <a:lvl1pPr>
              <a:defRPr sz="1800" b="0">
                <a:solidFill>
                  <a:srgbClr val="14243A"/>
                </a:solidFill>
                <a:latin typeface="Arial"/>
                <a:ea typeface="Arial"/>
                <a:cs typeface="Arial"/>
              </a:defRPr>
            </a:lvl1pPr>
            <a:lvl2pPr>
              <a:defRPr sz="1800" b="0">
                <a:solidFill>
                  <a:srgbClr val="14243A"/>
                </a:solidFill>
                <a:latin typeface="Arial"/>
                <a:ea typeface="Arial"/>
                <a:cs typeface="Arial"/>
              </a:defRPr>
            </a:lvl2pPr>
            <a:lvl3pPr>
              <a:defRPr sz="1800" b="0">
                <a:solidFill>
                  <a:srgbClr val="14243A"/>
                </a:solidFill>
                <a:latin typeface="Arial"/>
                <a:ea typeface="Arial"/>
                <a:cs typeface="Arial"/>
              </a:defRPr>
            </a:lvl3pPr>
            <a:lvl4pPr>
              <a:defRPr sz="1800" b="0">
                <a:solidFill>
                  <a:srgbClr val="14243A"/>
                </a:solidFill>
                <a:latin typeface="Arial"/>
                <a:ea typeface="Arial"/>
                <a:cs typeface="Arial"/>
              </a:defRPr>
            </a:lvl4pPr>
            <a:lvl5pPr>
              <a:defRPr sz="1800" b="0">
                <a:solidFill>
                  <a:srgbClr val="14243A"/>
                </a:solidFill>
                <a:latin typeface="Arial"/>
                <a:ea typeface="Arial"/>
                <a:cs typeface="Arial"/>
              </a:defRPr>
            </a:lvl5pPr>
            <a:lvl6pPr>
              <a:defRPr sz="1800" b="0">
                <a:solidFill>
                  <a:srgbClr val="14243A"/>
                </a:solidFill>
                <a:latin typeface="Arial"/>
                <a:ea typeface="Arial"/>
                <a:cs typeface="Arial"/>
              </a:defRPr>
            </a:lvl6pPr>
            <a:lvl7pPr>
              <a:defRPr sz="1800" b="0">
                <a:solidFill>
                  <a:srgbClr val="14243A"/>
                </a:solidFill>
                <a:latin typeface="Arial"/>
                <a:ea typeface="Arial"/>
                <a:cs typeface="Arial"/>
              </a:defRPr>
            </a:lvl7pPr>
            <a:lvl8pPr>
              <a:defRPr sz="1800" b="0">
                <a:solidFill>
                  <a:srgbClr val="14243A"/>
                </a:solidFill>
                <a:latin typeface="Arial"/>
                <a:ea typeface="Arial"/>
                <a:cs typeface="Arial"/>
              </a:defRPr>
            </a:lvl8pPr>
            <a:lvl9pPr>
              <a:defRPr sz="1800" b="0">
                <a:solidFill>
                  <a:srgbClr val="14243A"/>
                </a:solidFill>
                <a:latin typeface="Arial"/>
                <a:ea typeface="Arial"/>
                <a:cs typeface="Arial"/>
              </a:defRPr>
            </a:lvl9pPr>
          </a:lstStyle>
          <a:p xmlns:a="http://schemas.openxmlformats.org/drawingml/2006/main">
            <a:pPr>
              <a:defRPr sz="1800" b="0">
                <a:solidFill>
                  <a:srgbClr val="14243A"/>
                </a:solidFill>
                <a:latin typeface="Arial"/>
                <a:ea typeface="Arial"/>
                <a:cs typeface="Arial"/>
              </a:defRPr>
            </a:pPr>
            <a:r>
              <a:rPr sz="1800" b="0">
                <a:solidFill>
                  <a:srgbClr val="14243A"/>
                </a:solidFill>
                <a:latin typeface="Arial"/>
                <a:ea typeface="Arial"/>
                <a:cs typeface="Arial"/>
              </a:rPr>
              <a:t>8 skill mentions detected despite no experience</a:t>
            </a:r>
          </a:p>
          <a:p xmlns:a="http://schemas.openxmlformats.org/drawingml/2006/main">
            <a:r>
              <a:t/>
            </a:r>
          </a:p>
          <a:p xmlns:a="http://schemas.openxmlformats.org/drawingml/2006/main">
            <a:pPr>
              <a:defRPr sz="1800" b="0">
                <a:solidFill>
                  <a:srgbClr val="14243A"/>
                </a:solidFill>
                <a:latin typeface="Arial"/>
                <a:ea typeface="Arial"/>
                <a:cs typeface="Arial"/>
              </a:defRPr>
            </a:pPr>
            <a:r>
              <a:rPr sz="1800" b="0">
                <a:solidFill>
                  <a:srgbClr val="14243A"/>
                </a:solidFill>
                <a:latin typeface="Arial"/>
                <a:ea typeface="Arial"/>
                <a:cs typeface="Arial"/>
              </a:rPr>
              <a:t>Manual evidence review remains essential</a:t>
            </a:r>
          </a:p>
        </p:txBody>
      </p:sp>
    </p:spTree>
    <p:extLst>
      <p:ext uri="{BB962C8B-B14F-4D97-AF65-F5344CB8AC3E}">
        <p14:creationId xmlns:p14="http://schemas.microsoft.com/office/powerpoint/2010/main" val="1558252001"/>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6FD66F-F75E-4B2A-8524-330CD23DD1E1}"/>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43A"/>
                </a:solidFill>
                <a:latin typeface="Arial"/>
                <a:ea typeface="Arial"/>
                <a:cs typeface="Arial"/>
              </a:defRPr>
            </a:defPPr>
            <a:lvl1pPr>
              <a:defRPr sz="3000" b="1">
                <a:solidFill>
                  <a:srgbClr val="14243A"/>
                </a:solidFill>
                <a:latin typeface="Arial"/>
                <a:ea typeface="Arial"/>
                <a:cs typeface="Arial"/>
              </a:defRPr>
            </a:lvl1pPr>
            <a:lvl2pPr>
              <a:defRPr sz="3000" b="1">
                <a:solidFill>
                  <a:srgbClr val="14243A"/>
                </a:solidFill>
                <a:latin typeface="Arial"/>
                <a:ea typeface="Arial"/>
                <a:cs typeface="Arial"/>
              </a:defRPr>
            </a:lvl2pPr>
            <a:lvl3pPr>
              <a:defRPr sz="3000" b="1">
                <a:solidFill>
                  <a:srgbClr val="14243A"/>
                </a:solidFill>
                <a:latin typeface="Arial"/>
                <a:ea typeface="Arial"/>
                <a:cs typeface="Arial"/>
              </a:defRPr>
            </a:lvl3pPr>
            <a:lvl4pPr>
              <a:defRPr sz="3000" b="1">
                <a:solidFill>
                  <a:srgbClr val="14243A"/>
                </a:solidFill>
                <a:latin typeface="Arial"/>
                <a:ea typeface="Arial"/>
                <a:cs typeface="Arial"/>
              </a:defRPr>
            </a:lvl4pPr>
            <a:lvl5pPr>
              <a:defRPr sz="3000" b="1">
                <a:solidFill>
                  <a:srgbClr val="14243A"/>
                </a:solidFill>
                <a:latin typeface="Arial"/>
                <a:ea typeface="Arial"/>
                <a:cs typeface="Arial"/>
              </a:defRPr>
            </a:lvl5pPr>
            <a:lvl6pPr>
              <a:defRPr sz="3000" b="1">
                <a:solidFill>
                  <a:srgbClr val="14243A"/>
                </a:solidFill>
                <a:latin typeface="Arial"/>
                <a:ea typeface="Arial"/>
                <a:cs typeface="Arial"/>
              </a:defRPr>
            </a:lvl6pPr>
            <a:lvl7pPr>
              <a:defRPr sz="3000" b="1">
                <a:solidFill>
                  <a:srgbClr val="14243A"/>
                </a:solidFill>
                <a:latin typeface="Arial"/>
                <a:ea typeface="Arial"/>
                <a:cs typeface="Arial"/>
              </a:defRPr>
            </a:lvl7pPr>
            <a:lvl8pPr>
              <a:defRPr sz="3000" b="1">
                <a:solidFill>
                  <a:srgbClr val="14243A"/>
                </a:solidFill>
                <a:latin typeface="Arial"/>
                <a:ea typeface="Arial"/>
                <a:cs typeface="Arial"/>
              </a:defRPr>
            </a:lvl8pPr>
            <a:lvl9pPr>
              <a:defRPr sz="3000" b="1">
                <a:solidFill>
                  <a:srgbClr val="14243A"/>
                </a:solidFill>
                <a:latin typeface="Arial"/>
                <a:ea typeface="Arial"/>
                <a:cs typeface="Arial"/>
              </a:defRPr>
            </a:lvl9pPr>
          </a:lstStyle>
          <a:p xmlns:a="http://schemas.openxmlformats.org/drawingml/2006/main">
            <a:pPr>
              <a:defRPr sz="3000" b="1">
                <a:solidFill>
                  <a:srgbClr val="14243A"/>
                </a:solidFill>
                <a:latin typeface="Arial"/>
                <a:ea typeface="Arial"/>
                <a:cs typeface="Arial"/>
              </a:defRPr>
            </a:pPr>
            <a:r>
              <a:rPr sz="3000" b="1">
                <a:solidFill>
                  <a:srgbClr val="14243A"/>
                </a:solidFill>
                <a:latin typeface="Arial"/>
                <a:ea typeface="Arial"/>
                <a:cs typeface="Arial"/>
              </a:rPr>
              <a:t>Risks, responsible use and next steps</a:t>
            </a:r>
          </a:p>
        </p:txBody>
      </p:sp>
      <p:sp>
        <p:nvSpPr>
          <p:cNvPr id="2" name="">
            <a:extLst xmlns:a="http://schemas.openxmlformats.org/drawingml/2006/main">
              <a:ext uri="{FF2B5EF4-FFF2-40B4-BE49-F238E27FC236}">
                <a16:creationId xmlns:a16="http://schemas.microsoft.com/office/drawing/2014/main" id="{A7433B44-45C4-41F5-A923-489959D1C3C1}"/>
              </a:ext>
            </a:extLst>
          </p:cNvPr>
          <p:cNvSpPr>
            <a:spLocks xmlns:a="http://schemas.openxmlformats.org/drawingml/2006/main" noGrp="1"/>
          </p:cNvSpPr>
          <p:nvPr/>
        </p:nvSpPr>
        <p:spPr>
          <a:xfrm xmlns:a="http://schemas.openxmlformats.org/drawingml/2006/main">
            <a:off x="609600" y="6419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478"/>
                </a:solidFill>
                <a:latin typeface="Arial"/>
                <a:ea typeface="Arial"/>
                <a:cs typeface="Arial"/>
              </a:defRPr>
            </a:defPPr>
            <a:lvl1pPr>
              <a:defRPr sz="1050" b="0">
                <a:solidFill>
                  <a:srgbClr val="536478"/>
                </a:solidFill>
                <a:latin typeface="Arial"/>
                <a:ea typeface="Arial"/>
                <a:cs typeface="Arial"/>
              </a:defRPr>
            </a:lvl1pPr>
            <a:lvl2pPr>
              <a:defRPr sz="1050" b="0">
                <a:solidFill>
                  <a:srgbClr val="536478"/>
                </a:solidFill>
                <a:latin typeface="Arial"/>
                <a:ea typeface="Arial"/>
                <a:cs typeface="Arial"/>
              </a:defRPr>
            </a:lvl2pPr>
            <a:lvl3pPr>
              <a:defRPr sz="1050" b="0">
                <a:solidFill>
                  <a:srgbClr val="536478"/>
                </a:solidFill>
                <a:latin typeface="Arial"/>
                <a:ea typeface="Arial"/>
                <a:cs typeface="Arial"/>
              </a:defRPr>
            </a:lvl3pPr>
            <a:lvl4pPr>
              <a:defRPr sz="1050" b="0">
                <a:solidFill>
                  <a:srgbClr val="536478"/>
                </a:solidFill>
                <a:latin typeface="Arial"/>
                <a:ea typeface="Arial"/>
                <a:cs typeface="Arial"/>
              </a:defRPr>
            </a:lvl4pPr>
            <a:lvl5pPr>
              <a:defRPr sz="1050" b="0">
                <a:solidFill>
                  <a:srgbClr val="536478"/>
                </a:solidFill>
                <a:latin typeface="Arial"/>
                <a:ea typeface="Arial"/>
                <a:cs typeface="Arial"/>
              </a:defRPr>
            </a:lvl5pPr>
            <a:lvl6pPr>
              <a:defRPr sz="1050" b="0">
                <a:solidFill>
                  <a:srgbClr val="536478"/>
                </a:solidFill>
                <a:latin typeface="Arial"/>
                <a:ea typeface="Arial"/>
                <a:cs typeface="Arial"/>
              </a:defRPr>
            </a:lvl6pPr>
            <a:lvl7pPr>
              <a:defRPr sz="1050" b="0">
                <a:solidFill>
                  <a:srgbClr val="536478"/>
                </a:solidFill>
                <a:latin typeface="Arial"/>
                <a:ea typeface="Arial"/>
                <a:cs typeface="Arial"/>
              </a:defRPr>
            </a:lvl7pPr>
            <a:lvl8pPr>
              <a:defRPr sz="1050" b="0">
                <a:solidFill>
                  <a:srgbClr val="536478"/>
                </a:solidFill>
                <a:latin typeface="Arial"/>
                <a:ea typeface="Arial"/>
                <a:cs typeface="Arial"/>
              </a:defRPr>
            </a:lvl8pPr>
            <a:lvl9pPr>
              <a:defRPr sz="1050" b="0">
                <a:solidFill>
                  <a:srgbClr val="536478"/>
                </a:solidFill>
                <a:latin typeface="Arial"/>
                <a:ea typeface="Arial"/>
                <a:cs typeface="Arial"/>
              </a:defRPr>
            </a:lvl9pPr>
          </a:lstStyle>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HeroVired AI/ML Capstone · Sanket Toche · 8/8</a:t>
            </a:r>
          </a:p>
        </p:txBody>
      </p:sp>
      <p:sp>
        <p:nvSpPr>
          <p:cNvPr id="3" name="">
            <a:extLst xmlns:a="http://schemas.openxmlformats.org/drawingml/2006/main">
              <a:ext uri="{FF2B5EF4-FFF2-40B4-BE49-F238E27FC236}">
                <a16:creationId xmlns:a16="http://schemas.microsoft.com/office/drawing/2014/main" id="{D55F3973-C3F5-4C11-87B6-836DEDECB383}"/>
              </a:ext>
            </a:extLst>
          </p:cNvPr>
          <p:cNvSpPr>
            <a:spLocks xmlns:a="http://schemas.openxmlformats.org/drawingml/2006/main" noGrp="1"/>
          </p:cNvSpPr>
          <p:nvPr/>
        </p:nvSpPr>
        <p:spPr>
          <a:xfrm xmlns:a="http://schemas.openxmlformats.org/drawingml/2006/main">
            <a:off x="647700" y="15811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7F76"/>
                </a:solidFill>
                <a:latin typeface="Arial"/>
                <a:ea typeface="Arial"/>
                <a:cs typeface="Arial"/>
              </a:defRPr>
            </a:defPPr>
            <a:lvl1pPr>
              <a:defRPr sz="2175" b="1">
                <a:solidFill>
                  <a:srgbClr val="127F76"/>
                </a:solidFill>
                <a:latin typeface="Arial"/>
                <a:ea typeface="Arial"/>
                <a:cs typeface="Arial"/>
              </a:defRPr>
            </a:lvl1pPr>
            <a:lvl2pPr>
              <a:defRPr sz="2175" b="1">
                <a:solidFill>
                  <a:srgbClr val="127F76"/>
                </a:solidFill>
                <a:latin typeface="Arial"/>
                <a:ea typeface="Arial"/>
                <a:cs typeface="Arial"/>
              </a:defRPr>
            </a:lvl2pPr>
            <a:lvl3pPr>
              <a:defRPr sz="2175" b="1">
                <a:solidFill>
                  <a:srgbClr val="127F76"/>
                </a:solidFill>
                <a:latin typeface="Arial"/>
                <a:ea typeface="Arial"/>
                <a:cs typeface="Arial"/>
              </a:defRPr>
            </a:lvl3pPr>
            <a:lvl4pPr>
              <a:defRPr sz="2175" b="1">
                <a:solidFill>
                  <a:srgbClr val="127F76"/>
                </a:solidFill>
                <a:latin typeface="Arial"/>
                <a:ea typeface="Arial"/>
                <a:cs typeface="Arial"/>
              </a:defRPr>
            </a:lvl4pPr>
            <a:lvl5pPr>
              <a:defRPr sz="2175" b="1">
                <a:solidFill>
                  <a:srgbClr val="127F76"/>
                </a:solidFill>
                <a:latin typeface="Arial"/>
                <a:ea typeface="Arial"/>
                <a:cs typeface="Arial"/>
              </a:defRPr>
            </a:lvl5pPr>
            <a:lvl6pPr>
              <a:defRPr sz="2175" b="1">
                <a:solidFill>
                  <a:srgbClr val="127F76"/>
                </a:solidFill>
                <a:latin typeface="Arial"/>
                <a:ea typeface="Arial"/>
                <a:cs typeface="Arial"/>
              </a:defRPr>
            </a:lvl6pPr>
            <a:lvl7pPr>
              <a:defRPr sz="2175" b="1">
                <a:solidFill>
                  <a:srgbClr val="127F76"/>
                </a:solidFill>
                <a:latin typeface="Arial"/>
                <a:ea typeface="Arial"/>
                <a:cs typeface="Arial"/>
              </a:defRPr>
            </a:lvl7pPr>
            <a:lvl8pPr>
              <a:defRPr sz="2175" b="1">
                <a:solidFill>
                  <a:srgbClr val="127F76"/>
                </a:solidFill>
                <a:latin typeface="Arial"/>
                <a:ea typeface="Arial"/>
                <a:cs typeface="Arial"/>
              </a:defRPr>
            </a:lvl8pPr>
            <a:lvl9pPr>
              <a:defRPr sz="2175" b="1">
                <a:solidFill>
                  <a:srgbClr val="127F76"/>
                </a:solidFill>
                <a:latin typeface="Arial"/>
                <a:ea typeface="Arial"/>
                <a:cs typeface="Arial"/>
              </a:defRPr>
            </a:lvl9pPr>
          </a:lstStyle>
          <a:p xmlns:a="http://schemas.openxmlformats.org/drawingml/2006/main">
            <a:pPr>
              <a:defRPr sz="2175" b="1">
                <a:solidFill>
                  <a:srgbClr val="127F76"/>
                </a:solidFill>
                <a:latin typeface="Arial"/>
                <a:ea typeface="Arial"/>
                <a:cs typeface="Arial"/>
              </a:defRPr>
            </a:pPr>
            <a:r>
              <a:rPr sz="2175" b="1">
                <a:solidFill>
                  <a:srgbClr val="127F76"/>
                </a:solidFill>
                <a:latin typeface="Arial"/>
                <a:ea typeface="Arial"/>
                <a:cs typeface="Arial"/>
              </a:rPr>
              <a:t>Current safeguards</a:t>
            </a:r>
          </a:p>
        </p:txBody>
      </p:sp>
      <p:sp>
        <p:nvSpPr>
          <p:cNvPr id="4" name="">
            <a:extLst xmlns:a="http://schemas.openxmlformats.org/drawingml/2006/main">
              <a:ext uri="{FF2B5EF4-FFF2-40B4-BE49-F238E27FC236}">
                <a16:creationId xmlns:a16="http://schemas.microsoft.com/office/drawing/2014/main" id="{9DDC61F5-B519-41DE-92A0-CDF57E2EF454}"/>
              </a:ext>
            </a:extLst>
          </p:cNvPr>
          <p:cNvSpPr>
            <a:spLocks xmlns:a="http://schemas.openxmlformats.org/drawingml/2006/main" noGrp="1"/>
          </p:cNvSpPr>
          <p:nvPr/>
        </p:nvSpPr>
        <p:spPr>
          <a:xfrm xmlns:a="http://schemas.openxmlformats.org/drawingml/2006/main">
            <a:off x="647700" y="2324100"/>
            <a:ext cx="5000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43A"/>
                </a:solidFill>
                <a:latin typeface="Arial"/>
                <a:ea typeface="Arial"/>
                <a:cs typeface="Arial"/>
              </a:defRPr>
            </a:defPPr>
            <a:lvl1pPr>
              <a:defRPr sz="1875" b="0">
                <a:solidFill>
                  <a:srgbClr val="14243A"/>
                </a:solidFill>
                <a:latin typeface="Arial"/>
                <a:ea typeface="Arial"/>
                <a:cs typeface="Arial"/>
              </a:defRPr>
            </a:lvl1pPr>
            <a:lvl2pPr>
              <a:defRPr sz="1875" b="0">
                <a:solidFill>
                  <a:srgbClr val="14243A"/>
                </a:solidFill>
                <a:latin typeface="Arial"/>
                <a:ea typeface="Arial"/>
                <a:cs typeface="Arial"/>
              </a:defRPr>
            </a:lvl2pPr>
            <a:lvl3pPr>
              <a:defRPr sz="1875" b="0">
                <a:solidFill>
                  <a:srgbClr val="14243A"/>
                </a:solidFill>
                <a:latin typeface="Arial"/>
                <a:ea typeface="Arial"/>
                <a:cs typeface="Arial"/>
              </a:defRPr>
            </a:lvl3pPr>
            <a:lvl4pPr>
              <a:defRPr sz="1875" b="0">
                <a:solidFill>
                  <a:srgbClr val="14243A"/>
                </a:solidFill>
                <a:latin typeface="Arial"/>
                <a:ea typeface="Arial"/>
                <a:cs typeface="Arial"/>
              </a:defRPr>
            </a:lvl4pPr>
            <a:lvl5pPr>
              <a:defRPr sz="1875" b="0">
                <a:solidFill>
                  <a:srgbClr val="14243A"/>
                </a:solidFill>
                <a:latin typeface="Arial"/>
                <a:ea typeface="Arial"/>
                <a:cs typeface="Arial"/>
              </a:defRPr>
            </a:lvl5pPr>
            <a:lvl6pPr>
              <a:defRPr sz="1875" b="0">
                <a:solidFill>
                  <a:srgbClr val="14243A"/>
                </a:solidFill>
                <a:latin typeface="Arial"/>
                <a:ea typeface="Arial"/>
                <a:cs typeface="Arial"/>
              </a:defRPr>
            </a:lvl6pPr>
            <a:lvl7pPr>
              <a:defRPr sz="1875" b="0">
                <a:solidFill>
                  <a:srgbClr val="14243A"/>
                </a:solidFill>
                <a:latin typeface="Arial"/>
                <a:ea typeface="Arial"/>
                <a:cs typeface="Arial"/>
              </a:defRPr>
            </a:lvl7pPr>
            <a:lvl8pPr>
              <a:defRPr sz="1875" b="0">
                <a:solidFill>
                  <a:srgbClr val="14243A"/>
                </a:solidFill>
                <a:latin typeface="Arial"/>
                <a:ea typeface="Arial"/>
                <a:cs typeface="Arial"/>
              </a:defRPr>
            </a:lvl8pPr>
            <a:lvl9pPr>
              <a:defRPr sz="1875" b="0">
                <a:solidFill>
                  <a:srgbClr val="14243A"/>
                </a:solidFill>
                <a:latin typeface="Arial"/>
                <a:ea typeface="Arial"/>
                <a:cs typeface="Arial"/>
              </a:defRPr>
            </a:lvl9pPr>
          </a:lstStyle>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Human review for every consequential decision</a:t>
            </a:r>
          </a:p>
          <a:p xmlns:a="http://schemas.openxmlformats.org/drawingml/2006/main">
            <a:r>
              <a:t/>
            </a:r>
          </a:p>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Explicit demographic/contact-field redaction</a:t>
            </a:r>
          </a:p>
          <a:p xmlns:a="http://schemas.openxmlformats.org/drawingml/2006/main">
            <a:r>
              <a:t/>
            </a:r>
          </a:p>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Controlled invariance and explanation checks</a:t>
            </a:r>
          </a:p>
          <a:p xmlns:a="http://schemas.openxmlformats.org/drawingml/2006/main">
            <a:r>
              <a:t/>
            </a:r>
          </a:p>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Visible scores, skills and failure cases</a:t>
            </a:r>
          </a:p>
        </p:txBody>
      </p:sp>
      <p:sp>
        <p:nvSpPr>
          <p:cNvPr id="5" name="">
            <a:extLst xmlns:a="http://schemas.openxmlformats.org/drawingml/2006/main">
              <a:ext uri="{FF2B5EF4-FFF2-40B4-BE49-F238E27FC236}">
                <a16:creationId xmlns:a16="http://schemas.microsoft.com/office/drawing/2014/main" id="{446C2C84-3C57-476A-B408-1B2807B02A78}"/>
              </a:ext>
            </a:extLst>
          </p:cNvPr>
          <p:cNvSpPr>
            <a:spLocks xmlns:a="http://schemas.openxmlformats.org/drawingml/2006/main" noGrp="1"/>
          </p:cNvSpPr>
          <p:nvPr/>
        </p:nvSpPr>
        <p:spPr>
          <a:xfrm xmlns:a="http://schemas.openxmlformats.org/drawingml/2006/main">
            <a:off x="6524625" y="1581150"/>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43A"/>
                </a:solidFill>
                <a:latin typeface="Arial"/>
                <a:ea typeface="Arial"/>
                <a:cs typeface="Arial"/>
              </a:defRPr>
            </a:defPPr>
            <a:lvl1pPr>
              <a:defRPr sz="2175" b="1">
                <a:solidFill>
                  <a:srgbClr val="14243A"/>
                </a:solidFill>
                <a:latin typeface="Arial"/>
                <a:ea typeface="Arial"/>
                <a:cs typeface="Arial"/>
              </a:defRPr>
            </a:lvl1pPr>
            <a:lvl2pPr>
              <a:defRPr sz="2175" b="1">
                <a:solidFill>
                  <a:srgbClr val="14243A"/>
                </a:solidFill>
                <a:latin typeface="Arial"/>
                <a:ea typeface="Arial"/>
                <a:cs typeface="Arial"/>
              </a:defRPr>
            </a:lvl2pPr>
            <a:lvl3pPr>
              <a:defRPr sz="2175" b="1">
                <a:solidFill>
                  <a:srgbClr val="14243A"/>
                </a:solidFill>
                <a:latin typeface="Arial"/>
                <a:ea typeface="Arial"/>
                <a:cs typeface="Arial"/>
              </a:defRPr>
            </a:lvl3pPr>
            <a:lvl4pPr>
              <a:defRPr sz="2175" b="1">
                <a:solidFill>
                  <a:srgbClr val="14243A"/>
                </a:solidFill>
                <a:latin typeface="Arial"/>
                <a:ea typeface="Arial"/>
                <a:cs typeface="Arial"/>
              </a:defRPr>
            </a:lvl4pPr>
            <a:lvl5pPr>
              <a:defRPr sz="2175" b="1">
                <a:solidFill>
                  <a:srgbClr val="14243A"/>
                </a:solidFill>
                <a:latin typeface="Arial"/>
                <a:ea typeface="Arial"/>
                <a:cs typeface="Arial"/>
              </a:defRPr>
            </a:lvl5pPr>
            <a:lvl6pPr>
              <a:defRPr sz="2175" b="1">
                <a:solidFill>
                  <a:srgbClr val="14243A"/>
                </a:solidFill>
                <a:latin typeface="Arial"/>
                <a:ea typeface="Arial"/>
                <a:cs typeface="Arial"/>
              </a:defRPr>
            </a:lvl6pPr>
            <a:lvl7pPr>
              <a:defRPr sz="2175" b="1">
                <a:solidFill>
                  <a:srgbClr val="14243A"/>
                </a:solidFill>
                <a:latin typeface="Arial"/>
                <a:ea typeface="Arial"/>
                <a:cs typeface="Arial"/>
              </a:defRPr>
            </a:lvl7pPr>
            <a:lvl8pPr>
              <a:defRPr sz="2175" b="1">
                <a:solidFill>
                  <a:srgbClr val="14243A"/>
                </a:solidFill>
                <a:latin typeface="Arial"/>
                <a:ea typeface="Arial"/>
                <a:cs typeface="Arial"/>
              </a:defRPr>
            </a:lvl8pPr>
            <a:lvl9pPr>
              <a:defRPr sz="2175" b="1">
                <a:solidFill>
                  <a:srgbClr val="14243A"/>
                </a:solidFill>
                <a:latin typeface="Arial"/>
                <a:ea typeface="Arial"/>
                <a:cs typeface="Arial"/>
              </a:defRPr>
            </a:lvl9pPr>
          </a:lstStyle>
          <a:p xmlns:a="http://schemas.openxmlformats.org/drawingml/2006/main">
            <a:pPr>
              <a:defRPr sz="2175" b="1">
                <a:solidFill>
                  <a:srgbClr val="14243A"/>
                </a:solidFill>
                <a:latin typeface="Arial"/>
                <a:ea typeface="Arial"/>
                <a:cs typeface="Arial"/>
              </a:defRPr>
            </a:pPr>
            <a:r>
              <a:rPr sz="2175" b="1">
                <a:solidFill>
                  <a:srgbClr val="14243A"/>
                </a:solidFill>
                <a:latin typeface="Arial"/>
                <a:ea typeface="Arial"/>
                <a:cs typeface="Arial"/>
              </a:rPr>
              <a:t>Remaining limits and future work</a:t>
            </a:r>
          </a:p>
        </p:txBody>
      </p:sp>
      <p:sp>
        <p:nvSpPr>
          <p:cNvPr id="6" name="">
            <a:extLst xmlns:a="http://schemas.openxmlformats.org/drawingml/2006/main">
              <a:ext uri="{FF2B5EF4-FFF2-40B4-BE49-F238E27FC236}">
                <a16:creationId xmlns:a16="http://schemas.microsoft.com/office/drawing/2014/main" id="{0EB40DA7-28CD-45E3-BE53-F094B19ACF2D}"/>
              </a:ext>
            </a:extLst>
          </p:cNvPr>
          <p:cNvSpPr>
            <a:spLocks xmlns:a="http://schemas.openxmlformats.org/drawingml/2006/main" noGrp="1"/>
          </p:cNvSpPr>
          <p:nvPr/>
        </p:nvSpPr>
        <p:spPr>
          <a:xfrm xmlns:a="http://schemas.openxmlformats.org/drawingml/2006/main">
            <a:off x="6524625" y="2514600"/>
            <a:ext cx="4953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43A"/>
                </a:solidFill>
                <a:latin typeface="Arial"/>
                <a:ea typeface="Arial"/>
                <a:cs typeface="Arial"/>
              </a:defRPr>
            </a:defPPr>
            <a:lvl1pPr>
              <a:defRPr sz="1875" b="0">
                <a:solidFill>
                  <a:srgbClr val="14243A"/>
                </a:solidFill>
                <a:latin typeface="Arial"/>
                <a:ea typeface="Arial"/>
                <a:cs typeface="Arial"/>
              </a:defRPr>
            </a:lvl1pPr>
            <a:lvl2pPr>
              <a:defRPr sz="1875" b="0">
                <a:solidFill>
                  <a:srgbClr val="14243A"/>
                </a:solidFill>
                <a:latin typeface="Arial"/>
                <a:ea typeface="Arial"/>
                <a:cs typeface="Arial"/>
              </a:defRPr>
            </a:lvl2pPr>
            <a:lvl3pPr>
              <a:defRPr sz="1875" b="0">
                <a:solidFill>
                  <a:srgbClr val="14243A"/>
                </a:solidFill>
                <a:latin typeface="Arial"/>
                <a:ea typeface="Arial"/>
                <a:cs typeface="Arial"/>
              </a:defRPr>
            </a:lvl3pPr>
            <a:lvl4pPr>
              <a:defRPr sz="1875" b="0">
                <a:solidFill>
                  <a:srgbClr val="14243A"/>
                </a:solidFill>
                <a:latin typeface="Arial"/>
                <a:ea typeface="Arial"/>
                <a:cs typeface="Arial"/>
              </a:defRPr>
            </a:lvl4pPr>
            <a:lvl5pPr>
              <a:defRPr sz="1875" b="0">
                <a:solidFill>
                  <a:srgbClr val="14243A"/>
                </a:solidFill>
                <a:latin typeface="Arial"/>
                <a:ea typeface="Arial"/>
                <a:cs typeface="Arial"/>
              </a:defRPr>
            </a:lvl5pPr>
            <a:lvl6pPr>
              <a:defRPr sz="1875" b="0">
                <a:solidFill>
                  <a:srgbClr val="14243A"/>
                </a:solidFill>
                <a:latin typeface="Arial"/>
                <a:ea typeface="Arial"/>
                <a:cs typeface="Arial"/>
              </a:defRPr>
            </a:lvl6pPr>
            <a:lvl7pPr>
              <a:defRPr sz="1875" b="0">
                <a:solidFill>
                  <a:srgbClr val="14243A"/>
                </a:solidFill>
                <a:latin typeface="Arial"/>
                <a:ea typeface="Arial"/>
                <a:cs typeface="Arial"/>
              </a:defRPr>
            </a:lvl7pPr>
            <a:lvl8pPr>
              <a:defRPr sz="1875" b="0">
                <a:solidFill>
                  <a:srgbClr val="14243A"/>
                </a:solidFill>
                <a:latin typeface="Arial"/>
                <a:ea typeface="Arial"/>
                <a:cs typeface="Arial"/>
              </a:defRPr>
            </a:lvl8pPr>
            <a:lvl9pPr>
              <a:defRPr sz="1875" b="0">
                <a:solidFill>
                  <a:srgbClr val="14243A"/>
                </a:solidFill>
                <a:latin typeface="Arial"/>
                <a:ea typeface="Arial"/>
                <a:cs typeface="Arial"/>
              </a:defRPr>
            </a:lvl9pPr>
          </a:lstStyle>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Overfitting and uncertain source labels</a:t>
            </a:r>
          </a:p>
          <a:p xmlns:a="http://schemas.openxmlformats.org/drawingml/2006/main">
            <a:r>
              <a:t/>
            </a:r>
          </a:p>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Shared resumes and narrow skill taxonomy</a:t>
            </a:r>
          </a:p>
          <a:p xmlns:a="http://schemas.openxmlformats.org/drawingml/2006/main">
            <a:r>
              <a:t/>
            </a:r>
          </a:p>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Unseen-candidate and role-specific testing</a:t>
            </a:r>
          </a:p>
          <a:p xmlns:a="http://schemas.openxmlformats.org/drawingml/2006/main">
            <a:r>
              <a:t/>
            </a:r>
          </a:p>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Recruiter feedback, calibration and reranking</a:t>
            </a:r>
          </a:p>
        </p:txBody>
      </p:sp>
      <p:sp>
        <p:nvSpPr>
          <p:cNvPr id="7" name="">
            <a:extLst xmlns:a="http://schemas.openxmlformats.org/drawingml/2006/main">
              <a:ext uri="{FF2B5EF4-FFF2-40B4-BE49-F238E27FC236}">
                <a16:creationId xmlns:a16="http://schemas.microsoft.com/office/drawing/2014/main" id="{960A924D-B1BA-4D9B-AF13-772E067D96FD}"/>
              </a:ext>
            </a:extLst>
          </p:cNvPr>
          <p:cNvSpPr>
            <a:spLocks xmlns:a="http://schemas.openxmlformats.org/drawingml/2006/main" noGrp="1"/>
          </p:cNvSpPr>
          <p:nvPr/>
        </p:nvSpPr>
        <p:spPr>
          <a:xfrm xmlns:a="http://schemas.openxmlformats.org/drawingml/2006/main">
            <a:off x="647700" y="58007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27F76"/>
                </a:solidFill>
                <a:latin typeface="Arial"/>
                <a:ea typeface="Arial"/>
                <a:cs typeface="Arial"/>
              </a:defRPr>
            </a:defPPr>
            <a:lvl1pPr>
              <a:defRPr sz="1800" b="1">
                <a:solidFill>
                  <a:srgbClr val="127F76"/>
                </a:solidFill>
                <a:latin typeface="Arial"/>
                <a:ea typeface="Arial"/>
                <a:cs typeface="Arial"/>
              </a:defRPr>
            </a:lvl1pPr>
            <a:lvl2pPr>
              <a:defRPr sz="1800" b="1">
                <a:solidFill>
                  <a:srgbClr val="127F76"/>
                </a:solidFill>
                <a:latin typeface="Arial"/>
                <a:ea typeface="Arial"/>
                <a:cs typeface="Arial"/>
              </a:defRPr>
            </a:lvl2pPr>
            <a:lvl3pPr>
              <a:defRPr sz="1800" b="1">
                <a:solidFill>
                  <a:srgbClr val="127F76"/>
                </a:solidFill>
                <a:latin typeface="Arial"/>
                <a:ea typeface="Arial"/>
                <a:cs typeface="Arial"/>
              </a:defRPr>
            </a:lvl3pPr>
            <a:lvl4pPr>
              <a:defRPr sz="1800" b="1">
                <a:solidFill>
                  <a:srgbClr val="127F76"/>
                </a:solidFill>
                <a:latin typeface="Arial"/>
                <a:ea typeface="Arial"/>
                <a:cs typeface="Arial"/>
              </a:defRPr>
            </a:lvl4pPr>
            <a:lvl5pPr>
              <a:defRPr sz="1800" b="1">
                <a:solidFill>
                  <a:srgbClr val="127F76"/>
                </a:solidFill>
                <a:latin typeface="Arial"/>
                <a:ea typeface="Arial"/>
                <a:cs typeface="Arial"/>
              </a:defRPr>
            </a:lvl5pPr>
            <a:lvl6pPr>
              <a:defRPr sz="1800" b="1">
                <a:solidFill>
                  <a:srgbClr val="127F76"/>
                </a:solidFill>
                <a:latin typeface="Arial"/>
                <a:ea typeface="Arial"/>
                <a:cs typeface="Arial"/>
              </a:defRPr>
            </a:lvl6pPr>
            <a:lvl7pPr>
              <a:defRPr sz="1800" b="1">
                <a:solidFill>
                  <a:srgbClr val="127F76"/>
                </a:solidFill>
                <a:latin typeface="Arial"/>
                <a:ea typeface="Arial"/>
                <a:cs typeface="Arial"/>
              </a:defRPr>
            </a:lvl7pPr>
            <a:lvl8pPr>
              <a:defRPr sz="1800" b="1">
                <a:solidFill>
                  <a:srgbClr val="127F76"/>
                </a:solidFill>
                <a:latin typeface="Arial"/>
                <a:ea typeface="Arial"/>
                <a:cs typeface="Arial"/>
              </a:defRPr>
            </a:lvl8pPr>
            <a:lvl9pPr>
              <a:defRPr sz="1800" b="1">
                <a:solidFill>
                  <a:srgbClr val="127F76"/>
                </a:solidFill>
                <a:latin typeface="Arial"/>
                <a:ea typeface="Arial"/>
                <a:cs typeface="Arial"/>
              </a:defRPr>
            </a:lvl9pPr>
          </a:lstStyle>
          <a:p xmlns:a="http://schemas.openxmlformats.org/drawingml/2006/main">
            <a:pPr>
              <a:defRPr sz="1800" b="1">
                <a:solidFill>
                  <a:srgbClr val="127F76"/>
                </a:solidFill>
                <a:latin typeface="Arial"/>
                <a:ea typeface="Arial"/>
                <a:cs typeface="Arial"/>
              </a:defRPr>
            </a:pPr>
            <a:r>
              <a:rPr sz="1800" b="1">
                <a:solidFill>
                  <a:srgbClr val="127F76"/>
                </a:solidFill>
                <a:latin typeface="Arial"/>
                <a:ea typeface="Arial"/>
                <a:cs typeface="Arial"/>
              </a:rPr>
              <a:t>Business use: transparent candidate comparison with recruiter verification.</a:t>
            </a:r>
          </a:p>
        </p:txBody>
      </p:sp>
    </p:spTree>
    <p:extLst>
      <p:ext uri="{BB962C8B-B14F-4D97-AF65-F5344CB8AC3E}">
        <p14:creationId xmlns:p14="http://schemas.microsoft.com/office/powerpoint/2010/main" val="5610061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2026-10-18T07:00:19.2310000Z</dcterms:created>
  <dcterms:modified xsi:type="dcterms:W3CDTF">2026-10-18T07:00:19.2310000Z</dcterms:modified>
</coreProperties>
</file>